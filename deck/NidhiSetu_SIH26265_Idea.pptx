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30 seconds. Open with Chandigarh: ₹116.84 crore of FDRs that the bank never issued, and nobody noticed for a year. NidhiSetu asks the bank on day one and again every quarter. Point at the screenshot: receipt ₹25 lakh, bank ₹2.5 lakh, the white patch is box 1. Point at the green box: measured, not promised. Close: the officer decides; the bank's record decides what is true.</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Left: every choice has a reason and a rejected alternative; ask us about any of them. Right, follow the arrows: the institution uploads the FDR; five engines read it, check the rules, ask the bank, look for tampering and decide. The lifecycle monitor runs every day: reminders, escalation, and a bank re-check every 90 days. The officer sees paper and bank side by side, asks the institution to explain a discrepancy, or starts a release that two different officials must approve before the bank is asked to remove AICTE's lien. The renewal loop on the left closes the cycle. The diagram is an editable draw.io file in our repo.</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Say the false-alarm answer first, judges always ask it: zero on 60 genuine receipts, including phone photos. Then the 45 days: that is what continuous re-confirmation buys. Right side: the three tiers explain how we confirm even when a bank has no API.</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Who benefits, then the cases. Each number has its source on the card; do not round them up. The last card is the design idea: bank guarantees already need the bank's own message; we give FDRs the same.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If asked why not just use NeSL: it covers bank guarantees, not FDRs held as security. If asked about Account Aggregator: it is the right long-term channel and we have it as Tier 2 next; the institution consents once.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per member. Say: PS SIH26265 from AICTE's Regulation Bureau, Smart Automation, software.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sih.gov.in/sih2026PS" TargetMode="External"/><Relationship Id="rId5" Type="http://schemas.openxmlformats.org/officeDocument/2006/relationships/hyperlink" Target="https://aicte.gov.in/sites/default/files/Security_Deposit.pdf" TargetMode="External"/><Relationship Id="rId6" Type="http://schemas.openxmlformats.org/officeDocument/2006/relationships/hyperlink" Target="https://www.tribuneindia.com/news/chandigarh/chandigarh-mc-scam-rs-116-crore-fdr-scandal-unfolds-officials-under-fire/" TargetMode="External"/><Relationship Id="rId7" Type="http://schemas.openxmlformats.org/officeDocument/2006/relationships/hyperlink" Target="https://moneylife.in/article/150-crore-fd-discrepancy-in-panchkula-mc-account-kotak-mahindra-bank-files-police-complaint/80046.html" TargetMode="External"/><Relationship Id="rId8" Type="http://schemas.openxmlformats.org/officeDocument/2006/relationships/hyperlink" Target="https://www.businesstoday.in/latest/corporate/story/cbi-arrests-former-idfc-first-bank-au-small-finance-bank-officials-in-haryana-fd-fraud-case-540047-2026-06-30" TargetMode="External"/><Relationship Id="rId9" Type="http://schemas.openxmlformats.org/officeDocument/2006/relationships/hyperlink" Target="https://www.moneylife.in/article/ed-to-probe-rs64-crore-telugu-akademi-fixed-deposit-fraud/65336.html" TargetMode="External"/><Relationship Id="rId10" Type="http://schemas.openxmlformats.org/officeDocument/2006/relationships/hyperlink" Target="https://pnb.bank.in/working-capital-financing.html" TargetMode="External"/><Relationship Id="rId11" Type="http://schemas.openxmlformats.org/officeDocument/2006/relationships/hyperlink" Target="https://csb.bank.in/pdf/electronic-bank-guarantee-18082026.pdf" TargetMode="External"/><Relationship Id="rId12" Type="http://schemas.openxmlformats.org/officeDocument/2006/relationships/hyperlink" Target="https://sahamati.org.in/account-types-activated-by-banks-on-aas/" TargetMode="External"/><Relationship Id="rId13" Type="http://schemas.openxmlformats.org/officeDocument/2006/relationships/hyperlink" Target="https://sahamati.org.in/glossary-of-aa-terms/" TargetMode="External"/><Relationship Id="rId14" Type="http://schemas.openxmlformats.org/officeDocument/2006/relationships/hyperlink" Target="https://github.com/razorpay/ifsc" TargetMode="External"/><Relationship Id="rId15" Type="http://schemas.openxmlformats.org/officeDocument/2006/relationships/hyperlink" Target="https://www.etsi.org/" TargetMode="External"/><Relationship Id="rId16" Type="http://schemas.openxmlformats.org/officeDocument/2006/relationships/hyperlink" Target="https://arxiv.org/abs/2009.09941" TargetMode="External"/><Relationship Id="rId17" Type="http://schemas.openxmlformats.org/officeDocument/2006/relationships/hyperlink" Target="https://www.ux4g.gov.in/" TargetMode="External"/><Relationship Id="rId18" Type="http://schemas.openxmlformats.org/officeDocument/2006/relationships/hyperlink" Target="https://guidelines.india.gov.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NidhiSetu</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endParaRPr lang="en-US" dirty="0"/>
          </a:p>
          <a:p>
            <a:pPr marL="285750" indent="-285750" algn="l">
              <a:lnSpc>
                <a:spcPct val="105000"/>
              </a:lnSpc>
              <a:spcAft>
                <a:spcPts val="1000"/>
              </a:spcAft>
              <a:buFont typeface="Arial" panose="020B0604020202020204" pitchFamily="34" charset="0"/>
              <a:buChar char="•"/>
            </a:pPr>
            <a:r>
              <a:rPr lang="en-US" sz="1700" b="1" dirty="0">
                <a:latin typeface="Arial" panose="020B0604020202020204" pitchFamily="34" charset="0"/>
                <a:cs typeface="Arial" panose="020B0604020202020204" pitchFamily="34" charset="0"/>
              </a:rPr>
              <a:t>Problem Statement ID – SIH26265</a:t>
            </a:r>
          </a:p>
          <a:p>
            <a:pPr marL="285750" indent="-285750" algn="l">
              <a:lnSpc>
                <a:spcPct val="105000"/>
              </a:lnSpc>
              <a:spcAft>
                <a:spcPts val="1000"/>
              </a:spcAft>
              <a:buFont typeface="Arial" panose="020B0604020202020204" pitchFamily="34" charset="0"/>
              <a:buChar char="•"/>
            </a:pPr>
            <a:r>
              <a:rPr lang="en-US" sz="1700" b="1" dirty="0">
                <a:latin typeface="Arial" panose="020B0604020202020204" pitchFamily="34" charset="0"/>
                <a:cs typeface="Arial" panose="020B0604020202020204" pitchFamily="34" charset="0"/>
              </a:rPr>
              <a:t>Problem Statement Title – Streamline of security deposit/ FDR portal.</a:t>
            </a:r>
          </a:p>
          <a:p>
            <a:pPr marL="285750" indent="-285750" algn="l">
              <a:lnSpc>
                <a:spcPct val="105000"/>
              </a:lnSpc>
              <a:spcAft>
                <a:spcPts val="1000"/>
              </a:spcAft>
              <a:buFont typeface="Arial" panose="020B0604020202020204" pitchFamily="34" charset="0"/>
              <a:buChar char="•"/>
            </a:pPr>
            <a:r>
              <a:rPr lang="en-US" sz="1700" b="1" dirty="0">
                <a:latin typeface="Arial" panose="020B0604020202020204" pitchFamily="34" charset="0"/>
                <a:cs typeface="Arial" panose="020B0604020202020204" pitchFamily="34" charset="0"/>
              </a:rPr>
              <a:t>Theme – Smart Automation</a:t>
            </a:r>
          </a:p>
          <a:p>
            <a:pPr marL="285750" indent="-285750" algn="l">
              <a:lnSpc>
                <a:spcPct val="105000"/>
              </a:lnSpc>
              <a:spcAft>
                <a:spcPts val="1000"/>
              </a:spcAft>
              <a:buFont typeface="Arial" panose="020B0604020202020204" pitchFamily="34" charset="0"/>
              <a:buChar char="•"/>
            </a:pPr>
            <a:r>
              <a:rPr lang="en-US" sz="1700" b="1" dirty="0">
                <a:latin typeface="Arial" panose="020B0604020202020204" pitchFamily="34" charset="0"/>
                <a:cs typeface="Arial" panose="020B0604020202020204" pitchFamily="34" charset="0"/>
              </a:rPr>
              <a:t>PS Category – Software</a:t>
            </a:r>
          </a:p>
          <a:p>
            <a:pPr marL="285750" indent="-285750" algn="l">
              <a:lnSpc>
                <a:spcPct val="105000"/>
              </a:lnSpc>
              <a:spcAft>
                <a:spcPts val="1000"/>
              </a:spcAft>
              <a:buFont typeface="Arial" panose="020B0604020202020204" pitchFamily="34" charset="0"/>
              <a:buChar char="•"/>
            </a:pPr>
            <a:r>
              <a:rPr lang="en-US" sz="1700" b="1" dirty="0">
                <a:latin typeface="Arial" panose="020B0604020202020204" pitchFamily="34" charset="0"/>
                <a:cs typeface="Arial" panose="020B0604020202020204" pitchFamily="34" charset="0"/>
              </a:rPr>
              <a:t>Team ID – [Team ID]</a:t>
            </a:r>
          </a:p>
          <a:p>
            <a:pPr marL="285750" indent="-285750" algn="l">
              <a:lnSpc>
                <a:spcPct val="105000"/>
              </a:lnSpc>
              <a:spcAft>
                <a:spcPts val="1000"/>
              </a:spcAft>
              <a:buFont typeface="Arial" panose="020B0604020202020204" pitchFamily="34" charset="0"/>
              <a:buChar char="•"/>
            </a:pPr>
            <a:r>
              <a:rPr lang="en-US" sz="1700" b="1" dirty="0">
                <a:latin typeface="Arial" panose="020B0604020202020204" pitchFamily="34" charset="0"/>
                <a:cs typeface="Arial" panose="020B0604020202020204" pitchFamily="34" charset="0"/>
              </a:rPr>
              <a:t>Team Name (Registered on portal) – [Team Name]</a:t>
            </a:r>
            <a:endParaRPr lang="en-IN" sz="24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NidhiSetu</a:t>
            </a:r>
            <a:br>
              <a:rPr lang="en-US" sz="3600" b="1" dirty="0">
                <a:latin typeface="Times New Roman" panose="02020603050405020304" pitchFamily="18" charset="0"/>
                <a:ea typeface="ＭＳ Ｐゴシック" pitchFamily="1" charset="-128"/>
                <a:cs typeface="Times New Roman" panose="02020603050405020304" pitchFamily="18" charset="0"/>
              </a:rPr>
            </a:b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200"/>
              <a:t>[Team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1737360" y="896112"/>
            <a:ext cx="7955279" cy="292608"/>
          </a:xfrm>
          <a:prstGeom prst="rect">
            <a:avLst/>
          </a:prstGeom>
          <a:noFill/>
        </p:spPr>
        <p:txBody>
          <a:bodyPr wrap="square" lIns="36576" rIns="36576" tIns="18288" bIns="18288" anchor="t"/>
          <a:lstStyle/>
          <a:p>
            <a:pPr algn="ctr">
              <a:spcAft>
                <a:spcPts val="300"/>
              </a:spcAft>
              <a:buNone/>
            </a:pPr>
            <a:r>
              <a:rPr sz="1250" b="0" i="1" u="none">
                <a:solidFill>
                  <a:srgbClr val="1F3864"/>
                </a:solidFill>
                <a:latin typeface="Arial"/>
              </a:rPr>
              <a:t>Every security deposit confirmed with the bank, and tracked from submission to release</a:t>
            </a:r>
          </a:p>
        </p:txBody>
      </p:sp>
      <p:sp>
        <p:nvSpPr>
          <p:cNvPr id="15363" name="TextBox 15362"/>
          <p:cNvSpPr txBox="1"/>
          <p:nvPr/>
        </p:nvSpPr>
        <p:spPr>
          <a:xfrm>
            <a:off x="365760" y="1225296"/>
            <a:ext cx="8138160" cy="274320"/>
          </a:xfrm>
          <a:prstGeom prst="rect">
            <a:avLst/>
          </a:prstGeom>
          <a:noFill/>
        </p:spPr>
        <p:txBody>
          <a:bodyPr wrap="square" lIns="36576" rIns="36576" tIns="18288" bIns="18288" anchor="t"/>
          <a:lstStyle/>
          <a:p>
            <a:pPr algn="l">
              <a:spcAft>
                <a:spcPts val="300"/>
              </a:spcAft>
              <a:buNone/>
            </a:pPr>
            <a:r>
              <a:rPr sz="1400" b="1" i="0" u="none">
                <a:solidFill>
                  <a:srgbClr val="0070C0"/>
                </a:solidFill>
                <a:latin typeface="Arial"/>
              </a:rPr>
              <a:t>❖ Proposed Solution (Describe your Idea/Solution/Prototype)</a:t>
            </a:r>
          </a:p>
        </p:txBody>
      </p:sp>
      <p:sp>
        <p:nvSpPr>
          <p:cNvPr id="15364" name="Rounded Rectangle 15363"/>
          <p:cNvSpPr/>
          <p:nvPr/>
        </p:nvSpPr>
        <p:spPr>
          <a:xfrm>
            <a:off x="365760" y="1572768"/>
            <a:ext cx="2697480" cy="2862072"/>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5" name="TextBox 15364"/>
          <p:cNvSpPr txBox="1"/>
          <p:nvPr/>
        </p:nvSpPr>
        <p:spPr>
          <a:xfrm>
            <a:off x="438912" y="1618488"/>
            <a:ext cx="2551176" cy="438912"/>
          </a:xfrm>
          <a:prstGeom prst="rect">
            <a:avLst/>
          </a:prstGeom>
          <a:noFill/>
        </p:spPr>
        <p:txBody>
          <a:bodyPr wrap="square" lIns="36576" rIns="36576" tIns="18288" bIns="18288" anchor="t"/>
          <a:lstStyle/>
          <a:p>
            <a:pPr algn="l">
              <a:spcAft>
                <a:spcPts val="300"/>
              </a:spcAft>
              <a:buNone/>
            </a:pPr>
            <a:r>
              <a:rPr sz="1150" b="1" i="0" u="none">
                <a:solidFill>
                  <a:srgbClr val="1F3864"/>
                </a:solidFill>
                <a:latin typeface="Arial"/>
              </a:rPr>
              <a:t>Detailed explanation of the proposed solution</a:t>
            </a:r>
          </a:p>
        </p:txBody>
      </p:sp>
      <p:sp>
        <p:nvSpPr>
          <p:cNvPr id="15366" name="TextBox 15365"/>
          <p:cNvSpPr txBox="1"/>
          <p:nvPr/>
        </p:nvSpPr>
        <p:spPr>
          <a:xfrm>
            <a:off x="438912" y="2066543"/>
            <a:ext cx="2551176" cy="2331720"/>
          </a:xfrm>
          <a:prstGeom prst="rect">
            <a:avLst/>
          </a:prstGeom>
          <a:noFill/>
        </p:spPr>
        <p:txBody>
          <a:bodyPr wrap="square" lIns="36576" rIns="36576" tIns="18288" bIns="18288" anchor="t"/>
          <a:lstStyle/>
          <a:p>
            <a:pPr algn="l" marL="146304" indent="-128016">
              <a:spcAft>
                <a:spcPts val="300"/>
              </a:spcAft>
              <a:buChar char="•"/>
            </a:pPr>
            <a:r>
              <a:rPr sz="1000" b="0" i="0" u="none">
                <a:solidFill>
                  <a:srgbClr val="1B2333"/>
                </a:solidFill>
                <a:latin typeface="Arial"/>
              </a:rPr>
              <a:t>Reads each FDR or e-FDR: amount, bank, </a:t>
            </a:r>
            <a:r>
              <a:rPr sz="1000" b="1" i="0" u="none">
                <a:solidFill>
                  <a:srgbClr val="0070C0"/>
                </a:solidFill>
                <a:latin typeface="Arial"/>
              </a:rPr>
              <a:t>IFSC</a:t>
            </a:r>
            <a:r>
              <a:rPr sz="1000" b="0" i="0" u="none">
                <a:solidFill>
                  <a:srgbClr val="1B2333"/>
                </a:solidFill>
                <a:latin typeface="Arial"/>
              </a:rPr>
              <a:t>, dates, lien; </a:t>
            </a:r>
            <a:r>
              <a:rPr sz="1000" b="1" i="0" u="none">
                <a:solidFill>
                  <a:srgbClr val="0070C0"/>
                </a:solidFill>
                <a:latin typeface="Arial"/>
              </a:rPr>
              <a:t>OCR</a:t>
            </a:r>
            <a:r>
              <a:rPr sz="1000" b="0" i="0" u="none">
                <a:solidFill>
                  <a:srgbClr val="1B2333"/>
                </a:solidFill>
                <a:latin typeface="Arial"/>
              </a:rPr>
              <a:t> for phone photos</a:t>
            </a:r>
          </a:p>
          <a:p>
            <a:pPr algn="l" marL="146304" indent="-128016">
              <a:spcAft>
                <a:spcPts val="300"/>
              </a:spcAft>
              <a:buChar char="•"/>
            </a:pPr>
            <a:r>
              <a:rPr sz="1000" b="0" i="0" u="none">
                <a:solidFill>
                  <a:srgbClr val="1B2333"/>
                </a:solidFill>
                <a:latin typeface="Arial"/>
              </a:rPr>
              <a:t>Checks the </a:t>
            </a:r>
            <a:r>
              <a:rPr sz="1000" b="1" i="0" u="none">
                <a:solidFill>
                  <a:srgbClr val="0070C0"/>
                </a:solidFill>
                <a:latin typeface="Arial"/>
              </a:rPr>
              <a:t>deposit rules</a:t>
            </a:r>
            <a:r>
              <a:rPr sz="1000" b="0" i="0" u="none">
                <a:solidFill>
                  <a:srgbClr val="1B2333"/>
                </a:solidFill>
                <a:latin typeface="Arial"/>
              </a:rPr>
              <a:t>: in favour of AICTE, lien, amount, tenure, branch</a:t>
            </a:r>
          </a:p>
          <a:p>
            <a:pPr algn="l" marL="146304" indent="-128016">
              <a:spcAft>
                <a:spcPts val="300"/>
              </a:spcAft>
              <a:buChar char="•"/>
            </a:pPr>
            <a:r>
              <a:rPr sz="1000" b="1" i="0" u="none">
                <a:solidFill>
                  <a:srgbClr val="0070C0"/>
                </a:solidFill>
                <a:latin typeface="Arial"/>
              </a:rPr>
              <a:t>Asks the bank</a:t>
            </a:r>
            <a:r>
              <a:rPr sz="1000" b="0" i="0" u="none">
                <a:solidFill>
                  <a:srgbClr val="1B2333"/>
                </a:solidFill>
                <a:latin typeface="Arial"/>
              </a:rPr>
              <a:t>: e-FDR signature, term-deposit API, or a signed branch link</a:t>
            </a:r>
          </a:p>
          <a:p>
            <a:pPr algn="l" marL="146304" indent="-128016">
              <a:spcAft>
                <a:spcPts val="300"/>
              </a:spcAft>
              <a:buChar char="•"/>
            </a:pPr>
            <a:r>
              <a:rPr sz="1000" b="1" i="0" u="none">
                <a:solidFill>
                  <a:srgbClr val="0070C0"/>
                </a:solidFill>
                <a:latin typeface="Arial"/>
              </a:rPr>
              <a:t>Tracks the lifecycle</a:t>
            </a:r>
            <a:r>
              <a:rPr sz="1000" b="0" i="0" u="none">
                <a:solidFill>
                  <a:srgbClr val="1B2333"/>
                </a:solidFill>
                <a:latin typeface="Arial"/>
              </a:rPr>
              <a:t>: reminders at 90/60/30/7 days, escalation, renewal</a:t>
            </a:r>
          </a:p>
          <a:p>
            <a:pPr algn="l" marL="146304" indent="-128016">
              <a:spcAft>
                <a:spcPts val="300"/>
              </a:spcAft>
              <a:buChar char="•"/>
            </a:pPr>
            <a:r>
              <a:rPr sz="1000" b="1" i="0" u="none">
                <a:solidFill>
                  <a:srgbClr val="0070C0"/>
                </a:solidFill>
                <a:latin typeface="Arial"/>
              </a:rPr>
              <a:t>Release workflow</a:t>
            </a:r>
            <a:r>
              <a:rPr sz="1000" b="0" i="0" u="none">
                <a:solidFill>
                  <a:srgbClr val="1B2333"/>
                </a:solidFill>
                <a:latin typeface="Arial"/>
              </a:rPr>
              <a:t>: conditions checked, two officials, discharge letter to the bank</a:t>
            </a:r>
          </a:p>
        </p:txBody>
      </p:sp>
      <p:sp>
        <p:nvSpPr>
          <p:cNvPr id="15367" name="Rounded Rectangle 15366"/>
          <p:cNvSpPr/>
          <p:nvPr/>
        </p:nvSpPr>
        <p:spPr>
          <a:xfrm>
            <a:off x="3172968" y="1572768"/>
            <a:ext cx="2697480" cy="2862072"/>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8" name="TextBox 15367"/>
          <p:cNvSpPr txBox="1"/>
          <p:nvPr/>
        </p:nvSpPr>
        <p:spPr>
          <a:xfrm>
            <a:off x="3246120" y="1618488"/>
            <a:ext cx="2551176" cy="438912"/>
          </a:xfrm>
          <a:prstGeom prst="rect">
            <a:avLst/>
          </a:prstGeom>
          <a:noFill/>
        </p:spPr>
        <p:txBody>
          <a:bodyPr wrap="square" lIns="36576" rIns="36576" tIns="18288" bIns="18288" anchor="t"/>
          <a:lstStyle/>
          <a:p>
            <a:pPr algn="l">
              <a:spcAft>
                <a:spcPts val="300"/>
              </a:spcAft>
              <a:buNone/>
            </a:pPr>
            <a:r>
              <a:rPr sz="1150" b="1" i="0" u="none">
                <a:solidFill>
                  <a:srgbClr val="1F3864"/>
                </a:solidFill>
                <a:latin typeface="Arial"/>
              </a:rPr>
              <a:t>How it addresses the problem</a:t>
            </a:r>
          </a:p>
        </p:txBody>
      </p:sp>
      <p:sp>
        <p:nvSpPr>
          <p:cNvPr id="15369" name="TextBox 15368"/>
          <p:cNvSpPr txBox="1"/>
          <p:nvPr/>
        </p:nvSpPr>
        <p:spPr>
          <a:xfrm>
            <a:off x="3246120" y="2066543"/>
            <a:ext cx="2551176" cy="2331720"/>
          </a:xfrm>
          <a:prstGeom prst="rect">
            <a:avLst/>
          </a:prstGeom>
          <a:noFill/>
        </p:spPr>
        <p:txBody>
          <a:bodyPr wrap="square" lIns="36576" rIns="36576" tIns="18288" bIns="18288" anchor="t"/>
          <a:lstStyle/>
          <a:p>
            <a:pPr algn="l" marL="146304" indent="-128016">
              <a:spcAft>
                <a:spcPts val="300"/>
              </a:spcAft>
              <a:buChar char="•"/>
            </a:pPr>
            <a:r>
              <a:rPr sz="1000" b="0" i="0" u="none">
                <a:solidFill>
                  <a:srgbClr val="1B2333"/>
                </a:solidFill>
                <a:latin typeface="Arial"/>
              </a:rPr>
              <a:t>A deposit today is a paper receipt checked once. In Chandigarh, </a:t>
            </a:r>
            <a:r>
              <a:rPr sz="1000" b="1" i="0" u="none">
                <a:solidFill>
                  <a:srgbClr val="0070C0"/>
                </a:solidFill>
                <a:latin typeface="Arial"/>
              </a:rPr>
              <a:t>₹116.84 crore</a:t>
            </a:r>
            <a:r>
              <a:rPr sz="1000" b="0" i="0" u="none">
                <a:solidFill>
                  <a:srgbClr val="1B2333"/>
                </a:solidFill>
                <a:latin typeface="Arial"/>
              </a:rPr>
              <a:t> of FDRs the bank had never issued went unnoticed </a:t>
            </a:r>
            <a:r>
              <a:rPr sz="1000" b="1" i="0" u="none">
                <a:solidFill>
                  <a:srgbClr val="0070C0"/>
                </a:solidFill>
                <a:latin typeface="Arial"/>
              </a:rPr>
              <a:t>for over a year</a:t>
            </a:r>
            <a:r>
              <a:rPr sz="1000" b="0" i="0" u="none">
                <a:solidFill>
                  <a:srgbClr val="1B2333"/>
                </a:solidFill>
                <a:latin typeface="Arial"/>
              </a:rPr>
              <a:t> (Tribune, Mar 2026)</a:t>
            </a:r>
          </a:p>
          <a:p>
            <a:pPr algn="l" marL="146304" indent="-128016">
              <a:spcAft>
                <a:spcPts val="300"/>
              </a:spcAft>
              <a:buChar char="•"/>
            </a:pPr>
            <a:r>
              <a:rPr sz="1000" b="0" i="0" u="none">
                <a:solidFill>
                  <a:srgbClr val="1B2333"/>
                </a:solidFill>
                <a:latin typeface="Arial"/>
              </a:rPr>
              <a:t>NidhiSetu shows </a:t>
            </a:r>
            <a:r>
              <a:rPr sz="1000" b="1" i="0" u="none">
                <a:solidFill>
                  <a:srgbClr val="0070C0"/>
                </a:solidFill>
                <a:latin typeface="Arial"/>
              </a:rPr>
              <a:t>what the institution says next to what the bank confirms</a:t>
            </a:r>
            <a:r>
              <a:rPr sz="1000" b="0" i="0" u="none">
                <a:solidFill>
                  <a:srgbClr val="1B2333"/>
                </a:solidFill>
                <a:latin typeface="Arial"/>
              </a:rPr>
              <a:t>, for every FDR, on day one</a:t>
            </a:r>
          </a:p>
          <a:p>
            <a:pPr algn="l" marL="146304" indent="-128016">
              <a:spcAft>
                <a:spcPts val="300"/>
              </a:spcAft>
              <a:buChar char="•"/>
            </a:pPr>
            <a:r>
              <a:rPr sz="1000" b="0" i="0" u="none">
                <a:solidFill>
                  <a:srgbClr val="1B2333"/>
                </a:solidFill>
                <a:latin typeface="Arial"/>
              </a:rPr>
              <a:t>A </a:t>
            </a:r>
            <a:r>
              <a:rPr sz="1000" b="1" i="0" u="none">
                <a:solidFill>
                  <a:srgbClr val="0070C0"/>
                </a:solidFill>
                <a:latin typeface="Arial"/>
              </a:rPr>
              <a:t>bank re-check every 90 days</a:t>
            </a:r>
            <a:r>
              <a:rPr sz="1000" b="0" i="0" u="none">
                <a:solidFill>
                  <a:srgbClr val="1B2333"/>
                </a:solidFill>
                <a:latin typeface="Arial"/>
              </a:rPr>
              <a:t> finds an early closure in about </a:t>
            </a:r>
            <a:r>
              <a:rPr sz="1000" b="1" i="0" u="none">
                <a:solidFill>
                  <a:srgbClr val="0070C0"/>
                </a:solidFill>
                <a:latin typeface="Arial"/>
              </a:rPr>
              <a:t>45 days</a:t>
            </a:r>
            <a:r>
              <a:rPr sz="1000" b="0" i="0" u="none">
                <a:solidFill>
                  <a:srgbClr val="1B2333"/>
                </a:solidFill>
                <a:latin typeface="Arial"/>
              </a:rPr>
              <a:t>, not at maturity</a:t>
            </a:r>
          </a:p>
        </p:txBody>
      </p:sp>
      <p:sp>
        <p:nvSpPr>
          <p:cNvPr id="15370" name="Rounded Rectangle 15369"/>
          <p:cNvSpPr/>
          <p:nvPr/>
        </p:nvSpPr>
        <p:spPr>
          <a:xfrm>
            <a:off x="5980176" y="1572768"/>
            <a:ext cx="2514600" cy="2862072"/>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1" name="TextBox 15370"/>
          <p:cNvSpPr txBox="1"/>
          <p:nvPr/>
        </p:nvSpPr>
        <p:spPr>
          <a:xfrm>
            <a:off x="6053328" y="1618488"/>
            <a:ext cx="2368296" cy="438912"/>
          </a:xfrm>
          <a:prstGeom prst="rect">
            <a:avLst/>
          </a:prstGeom>
          <a:noFill/>
        </p:spPr>
        <p:txBody>
          <a:bodyPr wrap="square" lIns="36576" rIns="36576" tIns="18288" bIns="18288" anchor="t"/>
          <a:lstStyle/>
          <a:p>
            <a:pPr algn="l">
              <a:spcAft>
                <a:spcPts val="300"/>
              </a:spcAft>
              <a:buNone/>
            </a:pPr>
            <a:r>
              <a:rPr sz="1150" b="1" i="0" u="none">
                <a:solidFill>
                  <a:srgbClr val="1F3864"/>
                </a:solidFill>
                <a:latin typeface="Arial"/>
              </a:rPr>
              <a:t>Innovation and uniqueness of the solution</a:t>
            </a:r>
          </a:p>
        </p:txBody>
      </p:sp>
      <p:sp>
        <p:nvSpPr>
          <p:cNvPr id="15372" name="TextBox 15371"/>
          <p:cNvSpPr txBox="1"/>
          <p:nvPr/>
        </p:nvSpPr>
        <p:spPr>
          <a:xfrm>
            <a:off x="6053328" y="2066543"/>
            <a:ext cx="2368296" cy="2331720"/>
          </a:xfrm>
          <a:prstGeom prst="rect">
            <a:avLst/>
          </a:prstGeom>
          <a:noFill/>
        </p:spPr>
        <p:txBody>
          <a:bodyPr wrap="square" lIns="36576" rIns="36576" tIns="18288" bIns="18288" anchor="t"/>
          <a:lstStyle/>
          <a:p>
            <a:pPr algn="l" marL="146304" indent="-128016">
              <a:spcAft>
                <a:spcPts val="300"/>
              </a:spcAft>
              <a:buChar char="•"/>
            </a:pPr>
            <a:r>
              <a:rPr sz="1000" b="1" i="0" u="none">
                <a:solidFill>
                  <a:srgbClr val="0070C0"/>
                </a:solidFill>
                <a:latin typeface="Arial"/>
              </a:rPr>
              <a:t>Bank-confirmed, not paper-trusted</a:t>
            </a:r>
            <a:r>
              <a:rPr sz="1000" b="0" i="0" u="none">
                <a:solidFill>
                  <a:srgbClr val="1B2333"/>
                </a:solidFill>
                <a:latin typeface="Arial"/>
              </a:rPr>
              <a:t>: 3 tiers; never uses a QR or phone printed on the receipt</a:t>
            </a:r>
          </a:p>
          <a:p>
            <a:pPr algn="l" marL="146304" indent="-128016">
              <a:spcAft>
                <a:spcPts val="300"/>
              </a:spcAft>
              <a:buChar char="•"/>
            </a:pPr>
            <a:r>
              <a:rPr sz="1000" b="1" i="0" u="none">
                <a:solidFill>
                  <a:srgbClr val="0070C0"/>
                </a:solidFill>
                <a:latin typeface="Arial"/>
              </a:rPr>
              <a:t>Continuous re-confirmation</a:t>
            </a:r>
            <a:r>
              <a:rPr sz="1000" b="0" i="0" u="none">
                <a:solidFill>
                  <a:srgbClr val="1B2333"/>
                </a:solidFill>
                <a:latin typeface="Arial"/>
              </a:rPr>
              <a:t>, so a closed deposit cannot hide</a:t>
            </a:r>
          </a:p>
          <a:p>
            <a:pPr algn="l" marL="146304" indent="-128016">
              <a:spcAft>
                <a:spcPts val="300"/>
              </a:spcAft>
              <a:buChar char="•"/>
            </a:pPr>
            <a:r>
              <a:rPr sz="1000" b="1" i="0" u="none">
                <a:solidFill>
                  <a:srgbClr val="0070C0"/>
                </a:solidFill>
                <a:latin typeface="Arial"/>
              </a:rPr>
              <a:t>Pledge registry</a:t>
            </a:r>
            <a:r>
              <a:rPr sz="1000" b="0" i="0" u="none">
                <a:solidFill>
                  <a:srgbClr val="1B2333"/>
                </a:solidFill>
                <a:latin typeface="Arial"/>
              </a:rPr>
              <a:t>: one FDR cannot secure two institutions</a:t>
            </a:r>
          </a:p>
          <a:p>
            <a:pPr algn="l" marL="146304" indent="-128016">
              <a:spcAft>
                <a:spcPts val="300"/>
              </a:spcAft>
              <a:buChar char="•"/>
            </a:pPr>
            <a:r>
              <a:rPr sz="1000" b="1" i="0" u="none">
                <a:solidFill>
                  <a:srgbClr val="0070C0"/>
                </a:solidFill>
                <a:latin typeface="Arial"/>
              </a:rPr>
              <a:t>Tamper evidence</a:t>
            </a:r>
            <a:r>
              <a:rPr sz="1000" b="0" i="0" u="none">
                <a:solidFill>
                  <a:srgbClr val="1B2333"/>
                </a:solidFill>
                <a:latin typeface="Arial"/>
              </a:rPr>
              <a:t>: white patches, font changes, maturity-value arithmetic</a:t>
            </a:r>
          </a:p>
          <a:p>
            <a:pPr algn="l" marL="146304" indent="-128016">
              <a:spcAft>
                <a:spcPts val="300"/>
              </a:spcAft>
              <a:buChar char="•"/>
            </a:pPr>
            <a:r>
              <a:rPr sz="1000" b="1" i="0" u="none">
                <a:solidFill>
                  <a:srgbClr val="0070C0"/>
                </a:solidFill>
                <a:latin typeface="Arial"/>
              </a:rPr>
              <a:t>Maker-checker release</a:t>
            </a:r>
            <a:r>
              <a:rPr sz="1000" b="0" i="0" u="none">
                <a:solidFill>
                  <a:srgbClr val="1B2333"/>
                </a:solidFill>
                <a:latin typeface="Arial"/>
              </a:rPr>
              <a:t>, hash-chained audit trail</a:t>
            </a:r>
          </a:p>
        </p:txBody>
      </p:sp>
      <p:pic>
        <p:nvPicPr>
          <p:cNvPr id="15373" name="Picture 15372" descr="shot_evidence.png"/>
          <p:cNvPicPr>
            <a:picLocks noChangeAspect="1"/>
          </p:cNvPicPr>
          <p:nvPr/>
        </p:nvPicPr>
        <p:blipFill>
          <a:blip r:embed="rId4"/>
          <a:stretch>
            <a:fillRect/>
          </a:stretch>
        </p:blipFill>
        <p:spPr>
          <a:xfrm>
            <a:off x="8725080" y="1225296"/>
            <a:ext cx="2986679" cy="2103120"/>
          </a:xfrm>
          <a:prstGeom prst="rect">
            <a:avLst/>
          </a:prstGeom>
        </p:spPr>
      </p:pic>
      <p:sp>
        <p:nvSpPr>
          <p:cNvPr id="15374" name="TextBox 15373"/>
          <p:cNvSpPr txBox="1"/>
          <p:nvPr/>
        </p:nvSpPr>
        <p:spPr>
          <a:xfrm>
            <a:off x="8613648" y="3364992"/>
            <a:ext cx="3209544" cy="228600"/>
          </a:xfrm>
          <a:prstGeom prst="rect">
            <a:avLst/>
          </a:prstGeom>
          <a:noFill/>
        </p:spPr>
        <p:txBody>
          <a:bodyPr wrap="square" lIns="36576" rIns="36576" tIns="18288" bIns="18288" anchor="t"/>
          <a:lstStyle/>
          <a:p>
            <a:pPr algn="l">
              <a:spcAft>
                <a:spcPts val="300"/>
              </a:spcAft>
              <a:buNone/>
            </a:pPr>
            <a:r>
              <a:rPr sz="850" b="0" i="1" u="none">
                <a:solidFill>
                  <a:srgbClr val="5B6476"/>
                </a:solidFill>
                <a:latin typeface="Arial"/>
              </a:rPr>
              <a:t>Working prototype: the receipt says ₹25 lakh, the bank says ₹2.5 lakh; numbered boxes mark the evidence</a:t>
            </a:r>
          </a:p>
        </p:txBody>
      </p:sp>
      <p:sp>
        <p:nvSpPr>
          <p:cNvPr id="15375" name="Rounded Rectangle 15374"/>
          <p:cNvSpPr/>
          <p:nvPr/>
        </p:nvSpPr>
        <p:spPr>
          <a:xfrm>
            <a:off x="8613648" y="3639312"/>
            <a:ext cx="3209544" cy="795528"/>
          </a:xfrm>
          <a:prstGeom prst="roundRect">
            <a:avLst>
              <a:gd name="adj" fmla="val 6000"/>
            </a:avLst>
          </a:prstGeom>
          <a:solidFill>
            <a:srgbClr val="EAF6F0"/>
          </a:solidFill>
          <a:ln w="12700">
            <a:solidFill>
              <a:srgbClr val="BFE3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6" name="TextBox 15375"/>
          <p:cNvSpPr txBox="1"/>
          <p:nvPr/>
        </p:nvSpPr>
        <p:spPr>
          <a:xfrm>
            <a:off x="8686800" y="3675887"/>
            <a:ext cx="3063240" cy="731520"/>
          </a:xfrm>
          <a:prstGeom prst="rect">
            <a:avLst/>
          </a:prstGeom>
          <a:noFill/>
        </p:spPr>
        <p:txBody>
          <a:bodyPr wrap="square" lIns="36576" rIns="36576" tIns="18288" bIns="18288" anchor="ctr"/>
          <a:lstStyle/>
          <a:p>
            <a:pPr algn="l">
              <a:spcAft>
                <a:spcPts val="300"/>
              </a:spcAft>
              <a:buNone/>
            </a:pPr>
            <a:r>
              <a:rPr sz="1700" b="1" i="0" u="none">
                <a:solidFill>
                  <a:srgbClr val="1A7F4B"/>
                </a:solidFill>
                <a:latin typeface="Arial"/>
              </a:rPr>
              <a:t>80/80</a:t>
            </a:r>
            <a:r>
              <a:rPr sz="950" b="0" i="0" u="none">
                <a:solidFill>
                  <a:srgbClr val="1B2333"/>
                </a:solidFill>
                <a:latin typeface="Arial"/>
              </a:rPr>
              <a:t>  forgeries caught   </a:t>
            </a:r>
            <a:r>
              <a:rPr sz="1700" b="1" i="0" u="none">
                <a:solidFill>
                  <a:srgbClr val="1A7F4B"/>
                </a:solidFill>
                <a:latin typeface="Arial"/>
              </a:rPr>
              <a:t>0/60</a:t>
            </a:r>
            <a:r>
              <a:rPr sz="950" b="0" i="0" u="none">
                <a:solidFill>
                  <a:srgbClr val="1B2333"/>
                </a:solidFill>
                <a:latin typeface="Arial"/>
              </a:rPr>
              <a:t>  false alarms</a:t>
            </a:r>
          </a:p>
          <a:p>
            <a:pPr algn="l">
              <a:spcAft>
                <a:spcPts val="300"/>
              </a:spcAft>
              <a:buNone/>
            </a:pPr>
            <a:r>
              <a:rPr sz="850" b="0" i="0" u="none">
                <a:solidFill>
                  <a:srgbClr val="5B6476"/>
                </a:solidFill>
                <a:latin typeface="Arial"/>
              </a:rPr>
              <a:t>0.14 s per receipt on a laptop CPU · 140 labelled test receipts</a:t>
            </a:r>
          </a:p>
        </p:txBody>
      </p:sp>
      <p:pic>
        <p:nvPicPr>
          <p:cNvPr id="15377" name="Picture 15376" descr="pipeline.png"/>
          <p:cNvPicPr>
            <a:picLocks noChangeAspect="1"/>
          </p:cNvPicPr>
          <p:nvPr/>
        </p:nvPicPr>
        <p:blipFill>
          <a:blip r:embed="rId5"/>
          <a:stretch>
            <a:fillRect/>
          </a:stretch>
        </p:blipFill>
        <p:spPr>
          <a:xfrm>
            <a:off x="365760" y="4572000"/>
            <a:ext cx="11457432" cy="1209396"/>
          </a:xfrm>
          <a:prstGeom prst="rect">
            <a:avLst/>
          </a:prstGeom>
        </p:spPr>
      </p:pic>
      <p:sp>
        <p:nvSpPr>
          <p:cNvPr id="15378" name="TextBox 15377"/>
          <p:cNvSpPr txBox="1"/>
          <p:nvPr/>
        </p:nvSpPr>
        <p:spPr>
          <a:xfrm>
            <a:off x="365760" y="5852160"/>
            <a:ext cx="11457432" cy="274320"/>
          </a:xfrm>
          <a:prstGeom prst="rect">
            <a:avLst/>
          </a:prstGeom>
          <a:noFill/>
        </p:spPr>
        <p:txBody>
          <a:bodyPr wrap="square" lIns="36576" rIns="36576" tIns="18288" bIns="18288" anchor="t"/>
          <a:lstStyle/>
          <a:p>
            <a:pPr algn="l">
              <a:spcAft>
                <a:spcPts val="300"/>
              </a:spcAft>
              <a:buNone/>
            </a:pPr>
            <a:r>
              <a:rPr sz="1000" b="1" i="0" u="none">
                <a:solidFill>
                  <a:srgbClr val="1F3864"/>
                </a:solidFill>
                <a:latin typeface="Arial"/>
              </a:rPr>
              <a:t>Demo video: </a:t>
            </a:r>
            <a:r>
              <a:rPr sz="1000" b="0" i="0" u="none">
                <a:solidFill>
                  <a:srgbClr val="5B6476"/>
                </a:solidFill>
                <a:latin typeface="Arial"/>
              </a:rPr>
              <a:t>[add unlisted link]</a:t>
            </a:r>
            <a:r>
              <a:rPr sz="1000" b="1" i="0" u="none">
                <a:solidFill>
                  <a:srgbClr val="1F3864"/>
                </a:solidFill>
                <a:latin typeface="Arial"/>
              </a:rPr>
              <a:t>     Live prototype: </a:t>
            </a:r>
            <a:r>
              <a:rPr sz="1000" b="0" i="0" u="none">
                <a:solidFill>
                  <a:srgbClr val="5B6476"/>
                </a:solidFill>
                <a:latin typeface="Arial"/>
              </a:rPr>
              <a:t>[add link]</a:t>
            </a:r>
            <a:r>
              <a:rPr sz="1000" b="1" i="0" u="none">
                <a:solidFill>
                  <a:srgbClr val="1F3864"/>
                </a:solidFill>
                <a:latin typeface="Arial"/>
              </a:rPr>
              <a:t>     Code: </a:t>
            </a:r>
            <a:r>
              <a:rPr sz="1000" b="0" i="0" u="none">
                <a:solidFill>
                  <a:srgbClr val="5B6476"/>
                </a:solidFill>
                <a:latin typeface="Arial"/>
              </a:rPr>
              <a:t>[add GitHub link]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200"/>
              <a:t>[Team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15568"/>
            <a:ext cx="4343400" cy="411480"/>
          </a:xfrm>
          <a:prstGeom prst="rect">
            <a:avLst/>
          </a:prstGeom>
          <a:noFill/>
        </p:spPr>
        <p:txBody>
          <a:bodyPr wrap="square" lIns="36576" rIns="36576" tIns="18288" bIns="18288" anchor="t"/>
          <a:lstStyle/>
          <a:p>
            <a:pPr algn="l">
              <a:spcAft>
                <a:spcPts val="300"/>
              </a:spcAft>
              <a:buNone/>
            </a:pPr>
            <a:r>
              <a:rPr sz="1150" b="1" i="0" u="none">
                <a:solidFill>
                  <a:srgbClr val="0070C0"/>
                </a:solidFill>
                <a:latin typeface="Arial"/>
              </a:rPr>
              <a:t>Technologies to be used (e.g. programming languages, frameworks, hardware)</a:t>
            </a:r>
          </a:p>
        </p:txBody>
      </p:sp>
      <p:sp>
        <p:nvSpPr>
          <p:cNvPr id="17411" name="TextBox 17410"/>
          <p:cNvSpPr txBox="1"/>
          <p:nvPr/>
        </p:nvSpPr>
        <p:spPr>
          <a:xfrm>
            <a:off x="365760" y="1572768"/>
            <a:ext cx="4343400" cy="4069080"/>
          </a:xfrm>
          <a:prstGeom prst="rect">
            <a:avLst/>
          </a:prstGeom>
          <a:noFill/>
        </p:spPr>
        <p:txBody>
          <a:bodyPr wrap="square" lIns="36576" rIns="36576" tIns="18288" bIns="18288" anchor="t"/>
          <a:lstStyle/>
          <a:p>
            <a:pPr algn="l" marL="146304" indent="-128016">
              <a:spcAft>
                <a:spcPts val="450"/>
              </a:spcAft>
              <a:buChar char="•"/>
            </a:pPr>
            <a:r>
              <a:rPr sz="980" b="1" i="0" u="none">
                <a:solidFill>
                  <a:srgbClr val="0070C0"/>
                </a:solidFill>
                <a:latin typeface="Arial"/>
              </a:rPr>
              <a:t>FastAPI · Python 3.12</a:t>
            </a:r>
            <a:r>
              <a:rPr sz="980" b="0" i="0" u="none">
                <a:solidFill>
                  <a:srgbClr val="1B2333"/>
                </a:solidFill>
                <a:latin typeface="Arial"/>
              </a:rPr>
              <a:t>: typed API; Python owns the PDF, OCR and signature libraries (vs Node.js: weak PDF tooling)</a:t>
            </a:r>
          </a:p>
          <a:p>
            <a:pPr algn="l" marL="146304" indent="-128016">
              <a:spcAft>
                <a:spcPts val="450"/>
              </a:spcAft>
              <a:buChar char="•"/>
            </a:pPr>
            <a:r>
              <a:rPr sz="980" b="1" i="0" u="none">
                <a:solidFill>
                  <a:srgbClr val="0070C0"/>
                </a:solidFill>
                <a:latin typeface="Arial"/>
              </a:rPr>
              <a:t>PostgreSQL 16</a:t>
            </a:r>
            <a:r>
              <a:rPr sz="980" b="0" i="0" u="none">
                <a:solidFill>
                  <a:srgbClr val="1B2333"/>
                </a:solidFill>
                <a:latin typeface="Arial"/>
              </a:rPr>
              <a:t>: every instrument with paper and bank values side by side; demo runs the same code on SQLite (vs MongoDB: weak transactions for financial records)</a:t>
            </a:r>
          </a:p>
          <a:p>
            <a:pPr algn="l" marL="146304" indent="-128016">
              <a:spcAft>
                <a:spcPts val="450"/>
              </a:spcAft>
              <a:buChar char="•"/>
            </a:pPr>
            <a:r>
              <a:rPr sz="980" b="1" i="0" u="none">
                <a:solidFill>
                  <a:srgbClr val="0070C0"/>
                </a:solidFill>
                <a:latin typeface="Arial"/>
              </a:rPr>
              <a:t>Redis + RQ workers</a:t>
            </a:r>
            <a:r>
              <a:rPr sz="980" b="0" i="0" u="none">
                <a:solidFill>
                  <a:srgbClr val="1B2333"/>
                </a:solidFill>
                <a:latin typeface="Arial"/>
              </a:rPr>
              <a:t>: the daily monitor and bank re-checks run as jobs (vs Celery: heavier; Kafka: overkill)</a:t>
            </a:r>
          </a:p>
          <a:p>
            <a:pPr algn="l" marL="146304" indent="-128016">
              <a:spcAft>
                <a:spcPts val="450"/>
              </a:spcAft>
              <a:buChar char="•"/>
            </a:pPr>
            <a:r>
              <a:rPr sz="980" b="1" i="0" u="none">
                <a:solidFill>
                  <a:srgbClr val="0070C0"/>
                </a:solidFill>
                <a:latin typeface="Arial"/>
              </a:rPr>
              <a:t>MinIO (S3) on NIC / MeghRaj</a:t>
            </a:r>
            <a:r>
              <a:rPr sz="980" b="0" i="0" u="none">
                <a:solidFill>
                  <a:srgbClr val="1B2333"/>
                </a:solidFill>
                <a:latin typeface="Arial"/>
              </a:rPr>
              <a:t>: receipts stored by SHA-256, encrypted (vs local disk: does not scale)</a:t>
            </a:r>
          </a:p>
          <a:p>
            <a:pPr algn="l" marL="146304" indent="-128016">
              <a:spcAft>
                <a:spcPts val="450"/>
              </a:spcAft>
              <a:buChar char="•"/>
            </a:pPr>
            <a:r>
              <a:rPr sz="980" b="1" i="0" u="none">
                <a:solidFill>
                  <a:srgbClr val="0070C0"/>
                </a:solidFill>
                <a:latin typeface="Arial"/>
              </a:rPr>
              <a:t>pyHanko</a:t>
            </a:r>
            <a:r>
              <a:rPr sz="980" b="0" i="0" u="none">
                <a:solidFill>
                  <a:srgbClr val="1B2333"/>
                </a:solidFill>
                <a:latin typeface="Arial"/>
              </a:rPr>
              <a:t>: verifies the bank's PAdES signature on an e-FDR; catches edits after signing</a:t>
            </a:r>
          </a:p>
          <a:p>
            <a:pPr algn="l" marL="146304" indent="-128016">
              <a:spcAft>
                <a:spcPts val="450"/>
              </a:spcAft>
              <a:buChar char="•"/>
            </a:pPr>
            <a:r>
              <a:rPr sz="980" b="1" i="0" u="none">
                <a:solidFill>
                  <a:srgbClr val="0070C0"/>
                </a:solidFill>
                <a:latin typeface="Arial"/>
              </a:rPr>
              <a:t>RapidOCR (PP-OCR, ONNX)</a:t>
            </a:r>
            <a:r>
              <a:rPr sz="980" b="0" i="0" u="none">
                <a:solidFill>
                  <a:srgbClr val="1B2333"/>
                </a:solidFill>
                <a:latin typeface="Arial"/>
              </a:rPr>
              <a:t>: reads phone photos on a CPU (vs cloud OCR: financial data leaves AICTE)</a:t>
            </a:r>
          </a:p>
          <a:p>
            <a:pPr algn="l" marL="146304" indent="-128016">
              <a:spcAft>
                <a:spcPts val="450"/>
              </a:spcAft>
              <a:buChar char="•"/>
            </a:pPr>
            <a:r>
              <a:rPr sz="980" b="1" i="0" u="none">
                <a:solidFill>
                  <a:srgbClr val="0070C0"/>
                </a:solidFill>
                <a:latin typeface="Arial"/>
              </a:rPr>
              <a:t>Bank channel adapters</a:t>
            </a:r>
            <a:r>
              <a:rPr sz="980" b="0" i="0" u="none">
                <a:solidFill>
                  <a:srgbClr val="1B2333"/>
                </a:solidFill>
                <a:latin typeface="Arial"/>
              </a:rPr>
              <a:t>: e-FDR, term-deposit API, signed branch link; Account Aggregator next (vs letters to branches: weeks, no trail)</a:t>
            </a:r>
          </a:p>
          <a:p>
            <a:pPr algn="l" marL="146304" indent="-128016">
              <a:spcAft>
                <a:spcPts val="450"/>
              </a:spcAft>
              <a:buChar char="•"/>
            </a:pPr>
            <a:r>
              <a:rPr sz="980" b="1" i="0" u="none">
                <a:solidFill>
                  <a:srgbClr val="0070C0"/>
                </a:solidFill>
                <a:latin typeface="Arial"/>
              </a:rPr>
              <a:t>RBI IFSC list + rapidfuzz</a:t>
            </a:r>
            <a:r>
              <a:rPr sz="980" b="0" i="0" u="none">
                <a:solidFill>
                  <a:srgbClr val="1B2333"/>
                </a:solidFill>
                <a:latin typeface="Arial"/>
              </a:rPr>
              <a:t>: the branch must exist; OCR-tolerant name matching (vs exact match: photos fail)</a:t>
            </a:r>
          </a:p>
          <a:p>
            <a:pPr algn="l" marL="146304" indent="-128016">
              <a:spcAft>
                <a:spcPts val="450"/>
              </a:spcAft>
              <a:buChar char="•"/>
            </a:pPr>
            <a:r>
              <a:rPr sz="980" b="1" i="0" u="none">
                <a:solidFill>
                  <a:srgbClr val="0070C0"/>
                </a:solidFill>
                <a:latin typeface="Arial"/>
              </a:rPr>
              <a:t>React 18 + TypeScript on UX4G 3.0</a:t>
            </a:r>
            <a:r>
              <a:rPr sz="980" b="0" i="0" u="none">
                <a:solidFill>
                  <a:srgbClr val="1B2333"/>
                </a:solidFill>
                <a:latin typeface="Arial"/>
              </a:rPr>
              <a:t>: the Government of India design system, accessibility bar (vs a custom look)</a:t>
            </a:r>
          </a:p>
          <a:p>
            <a:pPr algn="l" marL="146304" indent="-128016">
              <a:spcAft>
                <a:spcPts val="450"/>
              </a:spcAft>
              <a:buChar char="•"/>
            </a:pPr>
            <a:r>
              <a:rPr sz="980" b="1" i="0" u="none">
                <a:solidFill>
                  <a:srgbClr val="0070C0"/>
                </a:solidFill>
                <a:latin typeface="Arial"/>
              </a:rPr>
              <a:t>Role-based sign-in + SHA-256 hash chain</a:t>
            </a:r>
            <a:r>
              <a:rPr sz="980" b="0" i="0" u="none">
                <a:solidFill>
                  <a:srgbClr val="1B2333"/>
                </a:solidFill>
                <a:latin typeface="Arial"/>
              </a:rPr>
              <a:t>: maker-checker roles; tamper-evident log (vs blockchain: same proof, no cost)</a:t>
            </a:r>
          </a:p>
        </p:txBody>
      </p:sp>
      <p:sp>
        <p:nvSpPr>
          <p:cNvPr id="17412" name="Rounded Rectangle 17411"/>
          <p:cNvSpPr/>
          <p:nvPr/>
        </p:nvSpPr>
        <p:spPr>
          <a:xfrm>
            <a:off x="365760" y="5715000"/>
            <a:ext cx="4343400" cy="457200"/>
          </a:xfrm>
          <a:prstGeom prst="roundRect">
            <a:avLst>
              <a:gd name="adj" fmla="val 20000"/>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411480" y="5733288"/>
            <a:ext cx="4251960" cy="420624"/>
          </a:xfrm>
          <a:prstGeom prst="rect">
            <a:avLst/>
          </a:prstGeom>
          <a:noFill/>
        </p:spPr>
        <p:txBody>
          <a:bodyPr wrap="square" lIns="36576" rIns="36576" tIns="18288" bIns="18288" anchor="ctr"/>
          <a:lstStyle/>
          <a:p>
            <a:pPr algn="ctr">
              <a:spcAft>
                <a:spcPts val="300"/>
              </a:spcAft>
              <a:buNone/>
            </a:pPr>
            <a:r>
              <a:rPr sz="1150" b="1" i="0" u="none">
                <a:solidFill>
                  <a:srgbClr val="FFFFFF"/>
                </a:solidFill>
                <a:latin typeface="Arial"/>
              </a:rPr>
              <a:t>100% open source  ·  ₹0 licence  ·  CPU only, no GPU</a:t>
            </a:r>
          </a:p>
        </p:txBody>
      </p:sp>
      <p:sp>
        <p:nvSpPr>
          <p:cNvPr id="17414" name="TextBox 17413"/>
          <p:cNvSpPr txBox="1"/>
          <p:nvPr/>
        </p:nvSpPr>
        <p:spPr>
          <a:xfrm>
            <a:off x="4892040" y="1115568"/>
            <a:ext cx="6931152" cy="274320"/>
          </a:xfrm>
          <a:prstGeom prst="rect">
            <a:avLst/>
          </a:prstGeom>
          <a:noFill/>
        </p:spPr>
        <p:txBody>
          <a:bodyPr wrap="square" lIns="36576" rIns="36576" tIns="18288" bIns="18288" anchor="t"/>
          <a:lstStyle/>
          <a:p>
            <a:pPr algn="l">
              <a:spcAft>
                <a:spcPts val="300"/>
              </a:spcAft>
              <a:buNone/>
            </a:pPr>
            <a:r>
              <a:rPr sz="1150" b="1" i="0" u="none">
                <a:solidFill>
                  <a:srgbClr val="0070C0"/>
                </a:solidFill>
                <a:latin typeface="Arial"/>
              </a:rPr>
              <a:t>Methodology and process for implementation (Flow Charts/Images/ working prototype)</a:t>
            </a:r>
          </a:p>
        </p:txBody>
      </p:sp>
      <p:pic>
        <p:nvPicPr>
          <p:cNvPr id="17415" name="Picture 17414" descr="flow.png"/>
          <p:cNvPicPr>
            <a:picLocks noChangeAspect="1"/>
          </p:cNvPicPr>
          <p:nvPr/>
        </p:nvPicPr>
        <p:blipFill>
          <a:blip r:embed="rId4"/>
          <a:stretch>
            <a:fillRect/>
          </a:stretch>
        </p:blipFill>
        <p:spPr>
          <a:xfrm>
            <a:off x="4999104" y="1417320"/>
            <a:ext cx="6717023" cy="4224528"/>
          </a:xfrm>
          <a:prstGeom prst="rect">
            <a:avLst/>
          </a:prstGeom>
        </p:spPr>
      </p:pic>
      <p:sp>
        <p:nvSpPr>
          <p:cNvPr id="17416" name="Rounded Rectangle 17415"/>
          <p:cNvSpPr/>
          <p:nvPr/>
        </p:nvSpPr>
        <p:spPr>
          <a:xfrm>
            <a:off x="4892040" y="5715000"/>
            <a:ext cx="2249424" cy="457200"/>
          </a:xfrm>
          <a:prstGeom prst="roundRect">
            <a:avLst>
              <a:gd name="adj" fmla="val 6000"/>
            </a:avLst>
          </a:prstGeom>
          <a:solidFill>
            <a:srgbClr val="EEF0FC"/>
          </a:solidFill>
          <a:ln w="12700">
            <a:solidFill>
              <a:srgbClr val="DDE1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7" name="TextBox 17416"/>
          <p:cNvSpPr txBox="1"/>
          <p:nvPr/>
        </p:nvSpPr>
        <p:spPr>
          <a:xfrm>
            <a:off x="4965192" y="5733288"/>
            <a:ext cx="2103120" cy="420624"/>
          </a:xfrm>
          <a:prstGeom prst="rect">
            <a:avLst/>
          </a:prstGeom>
          <a:noFill/>
        </p:spPr>
        <p:txBody>
          <a:bodyPr wrap="square" lIns="36576" rIns="36576" tIns="18288" bIns="18288" anchor="ctr"/>
          <a:lstStyle/>
          <a:p>
            <a:pPr algn="l">
              <a:spcAft>
                <a:spcPts val="300"/>
              </a:spcAft>
              <a:buNone/>
            </a:pPr>
            <a:r>
              <a:rPr sz="950" b="1" i="0" u="none">
                <a:solidFill>
                  <a:srgbClr val="1F3864"/>
                </a:solidFill>
                <a:latin typeface="Arial"/>
              </a:rPr>
              <a:t>1  Built  </a:t>
            </a:r>
            <a:r>
              <a:rPr sz="850" b="0" i="0" u="none">
                <a:solidFill>
                  <a:srgbClr val="1B2333"/>
                </a:solidFill>
                <a:latin typeface="Arial"/>
              </a:rPr>
              <a:t>lifecycle portal, bank sandbox, monitor, 6 passing tests</a:t>
            </a:r>
          </a:p>
        </p:txBody>
      </p:sp>
      <p:sp>
        <p:nvSpPr>
          <p:cNvPr id="17418" name="Rounded Rectangle 17417"/>
          <p:cNvSpPr/>
          <p:nvPr/>
        </p:nvSpPr>
        <p:spPr>
          <a:xfrm>
            <a:off x="7232904" y="5715000"/>
            <a:ext cx="2249424" cy="457200"/>
          </a:xfrm>
          <a:prstGeom prst="roundRect">
            <a:avLst>
              <a:gd name="adj" fmla="val 6000"/>
            </a:avLst>
          </a:prstGeom>
          <a:solidFill>
            <a:srgbClr val="EEF0FC"/>
          </a:solidFill>
          <a:ln w="12700">
            <a:solidFill>
              <a:srgbClr val="DDE1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9" name="TextBox 17418"/>
          <p:cNvSpPr txBox="1"/>
          <p:nvPr/>
        </p:nvSpPr>
        <p:spPr>
          <a:xfrm>
            <a:off x="7306056" y="5733288"/>
            <a:ext cx="2103120" cy="420624"/>
          </a:xfrm>
          <a:prstGeom prst="rect">
            <a:avLst/>
          </a:prstGeom>
          <a:noFill/>
        </p:spPr>
        <p:txBody>
          <a:bodyPr wrap="square" lIns="36576" rIns="36576" tIns="18288" bIns="18288" anchor="ctr"/>
          <a:lstStyle/>
          <a:p>
            <a:pPr algn="l">
              <a:spcAft>
                <a:spcPts val="300"/>
              </a:spcAft>
              <a:buNone/>
            </a:pPr>
            <a:r>
              <a:rPr sz="950" b="1" i="0" u="none">
                <a:solidFill>
                  <a:srgbClr val="1F3864"/>
                </a:solidFill>
                <a:latin typeface="Arial"/>
              </a:rPr>
              <a:t>2  Measured  </a:t>
            </a:r>
            <a:r>
              <a:rPr sz="850" b="0" i="0" u="none">
                <a:solidFill>
                  <a:srgbClr val="1B2333"/>
                </a:solidFill>
                <a:latin typeface="Arial"/>
              </a:rPr>
              <a:t>140 labelled receipts, 8 forgery patterns</a:t>
            </a:r>
          </a:p>
        </p:txBody>
      </p:sp>
      <p:sp>
        <p:nvSpPr>
          <p:cNvPr id="17420" name="Rounded Rectangle 17419"/>
          <p:cNvSpPr/>
          <p:nvPr/>
        </p:nvSpPr>
        <p:spPr>
          <a:xfrm>
            <a:off x="9573767" y="5715000"/>
            <a:ext cx="2249424" cy="457200"/>
          </a:xfrm>
          <a:prstGeom prst="roundRect">
            <a:avLst>
              <a:gd name="adj" fmla="val 6000"/>
            </a:avLst>
          </a:prstGeom>
          <a:solidFill>
            <a:srgbClr val="EEF0FC"/>
          </a:solidFill>
          <a:ln w="12700">
            <a:solidFill>
              <a:srgbClr val="DDE1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1" name="TextBox 17420"/>
          <p:cNvSpPr txBox="1"/>
          <p:nvPr/>
        </p:nvSpPr>
        <p:spPr>
          <a:xfrm>
            <a:off x="9646919" y="5733288"/>
            <a:ext cx="2103120" cy="420624"/>
          </a:xfrm>
          <a:prstGeom prst="rect">
            <a:avLst/>
          </a:prstGeom>
          <a:noFill/>
        </p:spPr>
        <p:txBody>
          <a:bodyPr wrap="square" lIns="36576" rIns="36576" tIns="18288" bIns="18288" anchor="ctr"/>
          <a:lstStyle/>
          <a:p>
            <a:pPr algn="l">
              <a:spcAft>
                <a:spcPts val="300"/>
              </a:spcAft>
              <a:buNone/>
            </a:pPr>
            <a:r>
              <a:rPr sz="950" b="1" i="0" u="none">
                <a:solidFill>
                  <a:srgbClr val="1F3864"/>
                </a:solidFill>
                <a:latin typeface="Arial"/>
              </a:rPr>
              <a:t>3  Pilot  </a:t>
            </a:r>
            <a:r>
              <a:rPr sz="850" b="0" i="0" u="none">
                <a:solidFill>
                  <a:srgbClr val="1B2333"/>
                </a:solidFill>
                <a:latin typeface="Arial"/>
              </a:rPr>
              <a:t>our college's deposit records, then one regional office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200"/>
              <a:t>[Team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15568"/>
            <a:ext cx="7315200" cy="274320"/>
          </a:xfrm>
          <a:prstGeom prst="rect">
            <a:avLst/>
          </a:prstGeom>
          <a:noFill/>
        </p:spPr>
        <p:txBody>
          <a:bodyPr wrap="square" lIns="36576" rIns="36576" tIns="18288" bIns="18288" anchor="t"/>
          <a:lstStyle/>
          <a:p>
            <a:pPr algn="l">
              <a:spcAft>
                <a:spcPts val="300"/>
              </a:spcAft>
              <a:buNone/>
            </a:pPr>
            <a:r>
              <a:rPr sz="1250" b="1" i="0" u="none">
                <a:solidFill>
                  <a:srgbClr val="0070C0"/>
                </a:solidFill>
                <a:latin typeface="Arial"/>
              </a:rPr>
              <a:t>Analysis of the feasibility of the idea</a:t>
            </a:r>
          </a:p>
        </p:txBody>
      </p:sp>
      <p:sp>
        <p:nvSpPr>
          <p:cNvPr id="17411" name="Rounded Rectangle 17410"/>
          <p:cNvSpPr/>
          <p:nvPr/>
        </p:nvSpPr>
        <p:spPr>
          <a:xfrm>
            <a:off x="365760" y="1417320"/>
            <a:ext cx="1746504" cy="868680"/>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438912" y="1444752"/>
            <a:ext cx="1600200" cy="274320"/>
          </a:xfrm>
          <a:prstGeom prst="rect">
            <a:avLst/>
          </a:prstGeom>
          <a:noFill/>
        </p:spPr>
        <p:txBody>
          <a:bodyPr wrap="square" lIns="36576" rIns="36576" tIns="18288" bIns="18288" anchor="t"/>
          <a:lstStyle/>
          <a:p>
            <a:pPr algn="l">
              <a:spcAft>
                <a:spcPts val="300"/>
              </a:spcAft>
              <a:buNone/>
            </a:pPr>
            <a:r>
              <a:rPr sz="1150" b="1" i="0" u="none">
                <a:solidFill>
                  <a:srgbClr val="0070C0"/>
                </a:solidFill>
                <a:latin typeface="Arial"/>
              </a:rPr>
              <a:t>Technical</a:t>
            </a:r>
          </a:p>
        </p:txBody>
      </p:sp>
      <p:sp>
        <p:nvSpPr>
          <p:cNvPr id="17413" name="TextBox 17412"/>
          <p:cNvSpPr txBox="1"/>
          <p:nvPr/>
        </p:nvSpPr>
        <p:spPr>
          <a:xfrm>
            <a:off x="438912" y="1709928"/>
            <a:ext cx="1600200" cy="566928"/>
          </a:xfrm>
          <a:prstGeom prst="rect">
            <a:avLst/>
          </a:prstGeom>
          <a:noFill/>
        </p:spPr>
        <p:txBody>
          <a:bodyPr wrap="square" lIns="36576" rIns="36576" tIns="18288" bIns="18288" anchor="t"/>
          <a:lstStyle/>
          <a:p>
            <a:pPr algn="l">
              <a:spcAft>
                <a:spcPts val="300"/>
              </a:spcAft>
              <a:buNone/>
            </a:pPr>
            <a:r>
              <a:rPr sz="930" b="0" i="0" u="none">
                <a:solidFill>
                  <a:srgbClr val="1B2333"/>
                </a:solidFill>
                <a:latin typeface="Arial"/>
              </a:rPr>
              <a:t>Built and running today; banks already issue e-receipts and share term deposits through AA</a:t>
            </a:r>
          </a:p>
        </p:txBody>
      </p:sp>
      <p:sp>
        <p:nvSpPr>
          <p:cNvPr id="17414" name="Rounded Rectangle 17413"/>
          <p:cNvSpPr/>
          <p:nvPr/>
        </p:nvSpPr>
        <p:spPr>
          <a:xfrm>
            <a:off x="2221991" y="1417320"/>
            <a:ext cx="1746504" cy="868680"/>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5" name="TextBox 17414"/>
          <p:cNvSpPr txBox="1"/>
          <p:nvPr/>
        </p:nvSpPr>
        <p:spPr>
          <a:xfrm>
            <a:off x="2295144" y="1444752"/>
            <a:ext cx="1600200" cy="274320"/>
          </a:xfrm>
          <a:prstGeom prst="rect">
            <a:avLst/>
          </a:prstGeom>
          <a:noFill/>
        </p:spPr>
        <p:txBody>
          <a:bodyPr wrap="square" lIns="36576" rIns="36576" tIns="18288" bIns="18288" anchor="t"/>
          <a:lstStyle/>
          <a:p>
            <a:pPr algn="l">
              <a:spcAft>
                <a:spcPts val="300"/>
              </a:spcAft>
              <a:buNone/>
            </a:pPr>
            <a:r>
              <a:rPr sz="1150" b="1" i="0" u="none">
                <a:solidFill>
                  <a:srgbClr val="1A7F4B"/>
                </a:solidFill>
                <a:latin typeface="Arial"/>
              </a:rPr>
              <a:t>Economic</a:t>
            </a:r>
          </a:p>
        </p:txBody>
      </p:sp>
      <p:sp>
        <p:nvSpPr>
          <p:cNvPr id="17416" name="TextBox 17415"/>
          <p:cNvSpPr txBox="1"/>
          <p:nvPr/>
        </p:nvSpPr>
        <p:spPr>
          <a:xfrm>
            <a:off x="2295144" y="1709928"/>
            <a:ext cx="1600200" cy="566928"/>
          </a:xfrm>
          <a:prstGeom prst="rect">
            <a:avLst/>
          </a:prstGeom>
          <a:noFill/>
        </p:spPr>
        <p:txBody>
          <a:bodyPr wrap="square" lIns="36576" rIns="36576" tIns="18288" bIns="18288" anchor="t"/>
          <a:lstStyle/>
          <a:p>
            <a:pPr algn="l">
              <a:spcAft>
                <a:spcPts val="300"/>
              </a:spcAft>
              <a:buNone/>
            </a:pPr>
            <a:r>
              <a:rPr sz="930" b="0" i="0" u="none">
                <a:solidFill>
                  <a:srgbClr val="1B2333"/>
                </a:solidFill>
                <a:latin typeface="Arial"/>
              </a:rPr>
              <a:t>₹0 licence; replaces verification letters and follow-up calls; NIC cloud</a:t>
            </a:r>
          </a:p>
        </p:txBody>
      </p:sp>
      <p:sp>
        <p:nvSpPr>
          <p:cNvPr id="17417" name="Rounded Rectangle 17416"/>
          <p:cNvSpPr/>
          <p:nvPr/>
        </p:nvSpPr>
        <p:spPr>
          <a:xfrm>
            <a:off x="4078224" y="1417320"/>
            <a:ext cx="1746504" cy="868680"/>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8" name="TextBox 17417"/>
          <p:cNvSpPr txBox="1"/>
          <p:nvPr/>
        </p:nvSpPr>
        <p:spPr>
          <a:xfrm>
            <a:off x="4151376" y="1444752"/>
            <a:ext cx="1600200" cy="274320"/>
          </a:xfrm>
          <a:prstGeom prst="rect">
            <a:avLst/>
          </a:prstGeom>
          <a:noFill/>
        </p:spPr>
        <p:txBody>
          <a:bodyPr wrap="square" lIns="36576" rIns="36576" tIns="18288" bIns="18288" anchor="t"/>
          <a:lstStyle/>
          <a:p>
            <a:pPr algn="l">
              <a:spcAft>
                <a:spcPts val="300"/>
              </a:spcAft>
              <a:buNone/>
            </a:pPr>
            <a:r>
              <a:rPr sz="1150" b="1" i="0" u="none">
                <a:solidFill>
                  <a:srgbClr val="1F3864"/>
                </a:solidFill>
                <a:latin typeface="Arial"/>
              </a:rPr>
              <a:t>Operational</a:t>
            </a:r>
          </a:p>
        </p:txBody>
      </p:sp>
      <p:sp>
        <p:nvSpPr>
          <p:cNvPr id="17419" name="TextBox 17418"/>
          <p:cNvSpPr txBox="1"/>
          <p:nvPr/>
        </p:nvSpPr>
        <p:spPr>
          <a:xfrm>
            <a:off x="4151376" y="1709928"/>
            <a:ext cx="1600200" cy="566928"/>
          </a:xfrm>
          <a:prstGeom prst="rect">
            <a:avLst/>
          </a:prstGeom>
          <a:noFill/>
        </p:spPr>
        <p:txBody>
          <a:bodyPr wrap="square" lIns="36576" rIns="36576" tIns="18288" bIns="18288" anchor="t"/>
          <a:lstStyle/>
          <a:p>
            <a:pPr algn="l">
              <a:spcAft>
                <a:spcPts val="300"/>
              </a:spcAft>
              <a:buNone/>
            </a:pPr>
            <a:r>
              <a:rPr sz="930" b="0" i="0" u="none">
                <a:solidFill>
                  <a:srgbClr val="1B2333"/>
                </a:solidFill>
                <a:latin typeface="Arial"/>
              </a:rPr>
              <a:t>Fits the Regulation Bureau's steps; officers keep every decision</a:t>
            </a:r>
          </a:p>
        </p:txBody>
      </p:sp>
      <p:sp>
        <p:nvSpPr>
          <p:cNvPr id="17420" name="Rounded Rectangle 17419"/>
          <p:cNvSpPr/>
          <p:nvPr/>
        </p:nvSpPr>
        <p:spPr>
          <a:xfrm>
            <a:off x="5934456" y="1417320"/>
            <a:ext cx="1746504" cy="868680"/>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1" name="TextBox 17420"/>
          <p:cNvSpPr txBox="1"/>
          <p:nvPr/>
        </p:nvSpPr>
        <p:spPr>
          <a:xfrm>
            <a:off x="6007608" y="1444752"/>
            <a:ext cx="1600200" cy="274320"/>
          </a:xfrm>
          <a:prstGeom prst="rect">
            <a:avLst/>
          </a:prstGeom>
          <a:noFill/>
        </p:spPr>
        <p:txBody>
          <a:bodyPr wrap="square" lIns="36576" rIns="36576" tIns="18288" bIns="18288" anchor="t"/>
          <a:lstStyle/>
          <a:p>
            <a:pPr algn="l">
              <a:spcAft>
                <a:spcPts val="300"/>
              </a:spcAft>
              <a:buNone/>
            </a:pPr>
            <a:r>
              <a:rPr sz="1150" b="1" i="0" u="none">
                <a:solidFill>
                  <a:srgbClr val="B8640F"/>
                </a:solidFill>
                <a:latin typeface="Arial"/>
              </a:rPr>
              <a:t>Legal &amp; data</a:t>
            </a:r>
          </a:p>
        </p:txBody>
      </p:sp>
      <p:sp>
        <p:nvSpPr>
          <p:cNvPr id="17422" name="TextBox 17421"/>
          <p:cNvSpPr txBox="1"/>
          <p:nvPr/>
        </p:nvSpPr>
        <p:spPr>
          <a:xfrm>
            <a:off x="6007608" y="1709928"/>
            <a:ext cx="1600200" cy="566928"/>
          </a:xfrm>
          <a:prstGeom prst="rect">
            <a:avLst/>
          </a:prstGeom>
          <a:noFill/>
        </p:spPr>
        <p:txBody>
          <a:bodyPr wrap="square" lIns="36576" rIns="36576" tIns="18288" bIns="18288" anchor="t"/>
          <a:lstStyle/>
          <a:p>
            <a:pPr algn="l">
              <a:spcAft>
                <a:spcPts val="300"/>
              </a:spcAft>
              <a:buNone/>
            </a:pPr>
            <a:r>
              <a:rPr sz="930" b="0" i="0" u="none">
                <a:solidFill>
                  <a:srgbClr val="1B2333"/>
                </a:solidFill>
                <a:latin typeface="Arial"/>
              </a:rPr>
              <a:t>On-prem, role-based, encrypted; bank checks only where authorised</a:t>
            </a:r>
          </a:p>
        </p:txBody>
      </p:sp>
      <p:sp>
        <p:nvSpPr>
          <p:cNvPr id="17423" name="Rounded Rectangle 17422"/>
          <p:cNvSpPr/>
          <p:nvPr/>
        </p:nvSpPr>
        <p:spPr>
          <a:xfrm>
            <a:off x="365760" y="2377440"/>
            <a:ext cx="7315200" cy="960120"/>
          </a:xfrm>
          <a:prstGeom prst="roundRect">
            <a:avLst>
              <a:gd name="adj" fmla="val 6000"/>
            </a:avLst>
          </a:prstGeom>
          <a:solidFill>
            <a:srgbClr val="EAF6F0"/>
          </a:solidFill>
          <a:ln w="12700">
            <a:solidFill>
              <a:srgbClr val="BFE3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4" name="TextBox 17423"/>
          <p:cNvSpPr txBox="1"/>
          <p:nvPr/>
        </p:nvSpPr>
        <p:spPr>
          <a:xfrm>
            <a:off x="411480" y="2395728"/>
            <a:ext cx="1737360" cy="658368"/>
          </a:xfrm>
          <a:prstGeom prst="rect">
            <a:avLst/>
          </a:prstGeom>
          <a:noFill/>
        </p:spPr>
        <p:txBody>
          <a:bodyPr wrap="square" lIns="36576" rIns="36576" tIns="18288" bIns="18288" anchor="t"/>
          <a:lstStyle/>
          <a:p>
            <a:pPr algn="l">
              <a:spcAft>
                <a:spcPts val="300"/>
              </a:spcAft>
              <a:buNone/>
            </a:pPr>
            <a:r>
              <a:rPr sz="2000" b="1" i="0" u="none">
                <a:solidFill>
                  <a:srgbClr val="1A7F4B"/>
                </a:solidFill>
                <a:latin typeface="Arial"/>
              </a:rPr>
              <a:t>80/80</a:t>
            </a:r>
          </a:p>
          <a:p>
            <a:pPr algn="l">
              <a:spcAft>
                <a:spcPts val="300"/>
              </a:spcAft>
              <a:buNone/>
            </a:pPr>
            <a:r>
              <a:rPr sz="919" b="0" i="0" u="none">
                <a:solidFill>
                  <a:srgbClr val="1B2333"/>
                </a:solidFill>
                <a:latin typeface="Arial"/>
              </a:rPr>
              <a:t>forgeries caught</a:t>
            </a:r>
          </a:p>
        </p:txBody>
      </p:sp>
      <p:sp>
        <p:nvSpPr>
          <p:cNvPr id="17425" name="TextBox 17424"/>
          <p:cNvSpPr txBox="1"/>
          <p:nvPr/>
        </p:nvSpPr>
        <p:spPr>
          <a:xfrm>
            <a:off x="2240280" y="2395728"/>
            <a:ext cx="1737360" cy="658368"/>
          </a:xfrm>
          <a:prstGeom prst="rect">
            <a:avLst/>
          </a:prstGeom>
          <a:noFill/>
        </p:spPr>
        <p:txBody>
          <a:bodyPr wrap="square" lIns="36576" rIns="36576" tIns="18288" bIns="18288" anchor="t"/>
          <a:lstStyle/>
          <a:p>
            <a:pPr algn="l">
              <a:spcAft>
                <a:spcPts val="300"/>
              </a:spcAft>
              <a:buNone/>
            </a:pPr>
            <a:r>
              <a:rPr sz="2000" b="1" i="0" u="none">
                <a:solidFill>
                  <a:srgbClr val="1A7F4B"/>
                </a:solidFill>
                <a:latin typeface="Arial"/>
              </a:rPr>
              <a:t>0/60</a:t>
            </a:r>
          </a:p>
          <a:p>
            <a:pPr algn="l">
              <a:spcAft>
                <a:spcPts val="300"/>
              </a:spcAft>
              <a:buNone/>
            </a:pPr>
            <a:r>
              <a:rPr sz="919" b="0" i="0" u="none">
                <a:solidFill>
                  <a:srgbClr val="1B2333"/>
                </a:solidFill>
                <a:latin typeface="Arial"/>
              </a:rPr>
              <a:t>false alarms (20 phone photos)</a:t>
            </a:r>
          </a:p>
        </p:txBody>
      </p:sp>
      <p:sp>
        <p:nvSpPr>
          <p:cNvPr id="17426" name="TextBox 17425"/>
          <p:cNvSpPr txBox="1"/>
          <p:nvPr/>
        </p:nvSpPr>
        <p:spPr>
          <a:xfrm>
            <a:off x="4069080" y="2395728"/>
            <a:ext cx="1737360" cy="658368"/>
          </a:xfrm>
          <a:prstGeom prst="rect">
            <a:avLst/>
          </a:prstGeom>
          <a:noFill/>
        </p:spPr>
        <p:txBody>
          <a:bodyPr wrap="square" lIns="36576" rIns="36576" tIns="18288" bIns="18288" anchor="t"/>
          <a:lstStyle/>
          <a:p>
            <a:pPr algn="l">
              <a:spcAft>
                <a:spcPts val="300"/>
              </a:spcAft>
              <a:buNone/>
            </a:pPr>
            <a:r>
              <a:rPr sz="2000" b="1" i="0" u="none">
                <a:solidFill>
                  <a:srgbClr val="1A7F4B"/>
                </a:solidFill>
                <a:latin typeface="Arial"/>
              </a:rPr>
              <a:t>0.14 s</a:t>
            </a:r>
          </a:p>
          <a:p>
            <a:pPr algn="l">
              <a:spcAft>
                <a:spcPts val="300"/>
              </a:spcAft>
              <a:buNone/>
            </a:pPr>
            <a:r>
              <a:rPr sz="919" b="0" i="0" u="none">
                <a:solidFill>
                  <a:srgbClr val="1B2333"/>
                </a:solidFill>
                <a:latin typeface="Arial"/>
              </a:rPr>
              <a:t>per receipt, laptop CPU</a:t>
            </a:r>
          </a:p>
        </p:txBody>
      </p:sp>
      <p:sp>
        <p:nvSpPr>
          <p:cNvPr id="17427" name="TextBox 17426"/>
          <p:cNvSpPr txBox="1"/>
          <p:nvPr/>
        </p:nvSpPr>
        <p:spPr>
          <a:xfrm>
            <a:off x="5897880" y="2395728"/>
            <a:ext cx="1737360" cy="658368"/>
          </a:xfrm>
          <a:prstGeom prst="rect">
            <a:avLst/>
          </a:prstGeom>
          <a:noFill/>
        </p:spPr>
        <p:txBody>
          <a:bodyPr wrap="square" lIns="36576" rIns="36576" tIns="18288" bIns="18288" anchor="t"/>
          <a:lstStyle/>
          <a:p>
            <a:pPr algn="l">
              <a:spcAft>
                <a:spcPts val="300"/>
              </a:spcAft>
              <a:buNone/>
            </a:pPr>
            <a:r>
              <a:rPr sz="2000" b="1" i="0" u="none">
                <a:solidFill>
                  <a:srgbClr val="1A7F4B"/>
                </a:solidFill>
                <a:latin typeface="Arial"/>
              </a:rPr>
              <a:t>45 days</a:t>
            </a:r>
          </a:p>
          <a:p>
            <a:pPr algn="l">
              <a:spcAft>
                <a:spcPts val="300"/>
              </a:spcAft>
              <a:buNone/>
            </a:pPr>
            <a:r>
              <a:rPr sz="919" b="0" i="0" u="none">
                <a:solidFill>
                  <a:srgbClr val="1B2333"/>
                </a:solidFill>
                <a:latin typeface="Arial"/>
              </a:rPr>
              <a:t>to catch an early closure (paper: 1,178)</a:t>
            </a:r>
          </a:p>
        </p:txBody>
      </p:sp>
      <p:sp>
        <p:nvSpPr>
          <p:cNvPr id="17428" name="TextBox 17427"/>
          <p:cNvSpPr txBox="1"/>
          <p:nvPr/>
        </p:nvSpPr>
        <p:spPr>
          <a:xfrm>
            <a:off x="457200" y="3072384"/>
            <a:ext cx="7132320" cy="246888"/>
          </a:xfrm>
          <a:prstGeom prst="rect">
            <a:avLst/>
          </a:prstGeom>
          <a:noFill/>
        </p:spPr>
        <p:txBody>
          <a:bodyPr wrap="square" lIns="36576" rIns="36576" tIns="18288" bIns="18288" anchor="t"/>
          <a:lstStyle/>
          <a:p>
            <a:pPr algn="l">
              <a:spcAft>
                <a:spcPts val="300"/>
              </a:spcAft>
              <a:buNone/>
            </a:pPr>
            <a:r>
              <a:rPr sz="850" b="0" i="1" u="none">
                <a:solidFill>
                  <a:srgbClr val="5B6476"/>
                </a:solidFill>
                <a:latin typeface="Arial"/>
              </a:rPr>
              <a:t>Measured on 140 synthetic receipts (8 patterns from reported cases) and a 10,000-deposit simulation; the pilot measures real-world rates.</a:t>
            </a:r>
          </a:p>
        </p:txBody>
      </p:sp>
      <p:sp>
        <p:nvSpPr>
          <p:cNvPr id="17429" name="TextBox 17428"/>
          <p:cNvSpPr txBox="1"/>
          <p:nvPr/>
        </p:nvSpPr>
        <p:spPr>
          <a:xfrm>
            <a:off x="365760" y="3419856"/>
            <a:ext cx="3108960" cy="274320"/>
          </a:xfrm>
          <a:prstGeom prst="rect">
            <a:avLst/>
          </a:prstGeom>
          <a:noFill/>
        </p:spPr>
        <p:txBody>
          <a:bodyPr wrap="square" lIns="36576" rIns="36576" tIns="18288" bIns="18288" anchor="t"/>
          <a:lstStyle/>
          <a:p>
            <a:pPr algn="l">
              <a:spcAft>
                <a:spcPts val="300"/>
              </a:spcAft>
              <a:buNone/>
            </a:pPr>
            <a:r>
              <a:rPr sz="1150" b="1" i="0" u="none">
                <a:solidFill>
                  <a:srgbClr val="0070C0"/>
                </a:solidFill>
                <a:latin typeface="Arial"/>
              </a:rPr>
              <a:t>Potential challenges and risks</a:t>
            </a:r>
          </a:p>
        </p:txBody>
      </p:sp>
      <p:sp>
        <p:nvSpPr>
          <p:cNvPr id="17430" name="TextBox 17429"/>
          <p:cNvSpPr txBox="1"/>
          <p:nvPr/>
        </p:nvSpPr>
        <p:spPr>
          <a:xfrm>
            <a:off x="3520440" y="3419856"/>
            <a:ext cx="4206240" cy="274320"/>
          </a:xfrm>
          <a:prstGeom prst="rect">
            <a:avLst/>
          </a:prstGeom>
          <a:noFill/>
        </p:spPr>
        <p:txBody>
          <a:bodyPr wrap="square" lIns="36576" rIns="36576" tIns="18288" bIns="18288" anchor="t"/>
          <a:lstStyle/>
          <a:p>
            <a:pPr algn="l">
              <a:spcAft>
                <a:spcPts val="300"/>
              </a:spcAft>
              <a:buNone/>
            </a:pPr>
            <a:r>
              <a:rPr sz="1150" b="1" i="0" u="none">
                <a:solidFill>
                  <a:srgbClr val="0070C0"/>
                </a:solidFill>
                <a:latin typeface="Arial"/>
              </a:rPr>
              <a:t>Strategies for overcoming these challenges</a:t>
            </a:r>
          </a:p>
        </p:txBody>
      </p:sp>
      <p:graphicFrame>
        <p:nvGraphicFramePr>
          <p:cNvPr id="17431" name="Table 17430"/>
          <p:cNvGraphicFramePr>
            <a:graphicFrameLocks noGrp="1"/>
          </p:cNvGraphicFramePr>
          <p:nvPr/>
        </p:nvGraphicFramePr>
        <p:xfrm>
          <a:off x="365760" y="3685032"/>
          <a:ext cx="7315200" cy="2496312"/>
        </p:xfrm>
        <a:graphic>
          <a:graphicData uri="http://schemas.openxmlformats.org/drawingml/2006/table">
            <a:tbl>
              <a:tblPr firstRow="0" bandRow="0"/>
              <a:tblGrid>
                <a:gridCol w="2926080"/>
                <a:gridCol w="4389120"/>
              </a:tblGrid>
              <a:tr h="356616">
                <a:tc>
                  <a:txBody>
                    <a:bodyPr wrap="square"/>
                    <a:lstStyle/>
                    <a:p>
                      <a:r>
                        <a:rPr sz="919" b="1">
                          <a:solidFill>
                            <a:srgbClr val="FFFFFF"/>
                          </a:solidFill>
                          <a:latin typeface="Arial"/>
                        </a:rPr>
                        <a:t>Challenge or risk</a:t>
                      </a:r>
                    </a:p>
                  </a:txBody>
                  <a:tcPr marL="54864" marR="54864" marT="27432" marB="27432" anchor="ctr">
                    <a:solidFill>
                      <a:srgbClr val="1F3864"/>
                    </a:solidFill>
                  </a:tcPr>
                </a:tc>
                <a:tc>
                  <a:txBody>
                    <a:bodyPr wrap="square"/>
                    <a:lstStyle/>
                    <a:p>
                      <a:r>
                        <a:rPr sz="919" b="1">
                          <a:solidFill>
                            <a:srgbClr val="FFFFFF"/>
                          </a:solidFill>
                          <a:latin typeface="Arial"/>
                        </a:rPr>
                        <a:t>Strategy</a:t>
                      </a:r>
                    </a:p>
                  </a:txBody>
                  <a:tcPr marL="54864" marR="54864" marT="27432" marB="27432" anchor="ctr">
                    <a:solidFill>
                      <a:srgbClr val="1F3864"/>
                    </a:solidFill>
                  </a:tcPr>
                </a:tc>
              </a:tr>
              <a:tr h="356616">
                <a:tc>
                  <a:txBody>
                    <a:bodyPr wrap="square"/>
                    <a:lstStyle/>
                    <a:p>
                      <a:r>
                        <a:rPr sz="919" b="1">
                          <a:solidFill>
                            <a:srgbClr val="1B2333"/>
                          </a:solidFill>
                          <a:latin typeface="Arial"/>
                        </a:rPr>
                        <a:t>Bank has no API (a small co-operative bank)</a:t>
                      </a:r>
                    </a:p>
                  </a:txBody>
                  <a:tcPr marL="54864" marR="54864" marT="27432" marB="27432" anchor="ctr">
                    <a:solidFill>
                      <a:srgbClr val="FFFFFF"/>
                    </a:solidFill>
                  </a:tcPr>
                </a:tc>
                <a:tc>
                  <a:txBody>
                    <a:bodyPr wrap="square"/>
                    <a:lstStyle/>
                    <a:p>
                      <a:r>
                        <a:rPr sz="919" b="0">
                          <a:solidFill>
                            <a:srgbClr val="1B2333"/>
                          </a:solidFill>
                          <a:latin typeface="Arial"/>
                        </a:rPr>
                        <a:t>Tier 3 signed branch link; no answer within the SLA escalates; AA consent as banks join</a:t>
                      </a:r>
                    </a:p>
                  </a:txBody>
                  <a:tcPr marL="54864" marR="54864" marT="27432" marB="27432" anchor="ctr">
                    <a:solidFill>
                      <a:srgbClr val="FFFFFF"/>
                    </a:solidFill>
                  </a:tcPr>
                </a:tc>
              </a:tr>
              <a:tr h="356616">
                <a:tc>
                  <a:txBody>
                    <a:bodyPr wrap="square"/>
                    <a:lstStyle/>
                    <a:p>
                      <a:r>
                        <a:rPr sz="919" b="1">
                          <a:solidFill>
                            <a:srgbClr val="1B2333"/>
                          </a:solidFill>
                          <a:latin typeface="Arial"/>
                        </a:rPr>
                        <a:t>Bank service down or slow</a:t>
                      </a:r>
                    </a:p>
                  </a:txBody>
                  <a:tcPr marL="54864" marR="54864" marT="27432" marB="27432" anchor="ctr">
                    <a:solidFill>
                      <a:srgbClr val="F4F7FB"/>
                    </a:solidFill>
                  </a:tcPr>
                </a:tc>
                <a:tc>
                  <a:txBody>
                    <a:bodyPr wrap="square"/>
                    <a:lstStyle/>
                    <a:p>
                      <a:r>
                        <a:rPr sz="919" b="0">
                          <a:solidFill>
                            <a:srgbClr val="1B2333"/>
                          </a:solidFill>
                          <a:latin typeface="Arial"/>
                        </a:rPr>
                        <a:t>Stays "awaiting bank", never "fake"; retried automatically</a:t>
                      </a:r>
                    </a:p>
                  </a:txBody>
                  <a:tcPr marL="54864" marR="54864" marT="27432" marB="27432" anchor="ctr">
                    <a:solidFill>
                      <a:srgbClr val="F4F7FB"/>
                    </a:solidFill>
                  </a:tcPr>
                </a:tc>
              </a:tr>
              <a:tr h="356616">
                <a:tc>
                  <a:txBody>
                    <a:bodyPr wrap="square"/>
                    <a:lstStyle/>
                    <a:p>
                      <a:r>
                        <a:rPr sz="919" b="1">
                          <a:solidFill>
                            <a:srgbClr val="1B2333"/>
                          </a:solidFill>
                          <a:latin typeface="Arial"/>
                        </a:rPr>
                        <a:t>Genuine receipt flagged (phone photo, OCR)</a:t>
                      </a:r>
                    </a:p>
                  </a:txBody>
                  <a:tcPr marL="54864" marR="54864" marT="27432" marB="27432" anchor="ctr">
                    <a:solidFill>
                      <a:srgbClr val="FFFFFF"/>
                    </a:solidFill>
                  </a:tcPr>
                </a:tc>
                <a:tc>
                  <a:txBody>
                    <a:bodyPr wrap="square"/>
                    <a:lstStyle/>
                    <a:p>
                      <a:r>
                        <a:rPr sz="919" b="0">
                          <a:solidFill>
                            <a:srgbClr val="1B2333"/>
                          </a:solidFill>
                          <a:latin typeface="Arial"/>
                        </a:rPr>
                        <a:t>OCR-tolerant matching: 0/20 false alarms on photos; officer sees the evidence first</a:t>
                      </a:r>
                    </a:p>
                  </a:txBody>
                  <a:tcPr marL="54864" marR="54864" marT="27432" marB="27432" anchor="ctr">
                    <a:solidFill>
                      <a:srgbClr val="FFFFFF"/>
                    </a:solidFill>
                  </a:tcPr>
                </a:tc>
              </a:tr>
              <a:tr h="356616">
                <a:tc>
                  <a:txBody>
                    <a:bodyPr wrap="square"/>
                    <a:lstStyle/>
                    <a:p>
                      <a:r>
                        <a:rPr sz="919" b="1">
                          <a:solidFill>
                            <a:srgbClr val="1B2333"/>
                          </a:solidFill>
                          <a:latin typeface="Arial"/>
                        </a:rPr>
                        <a:t>FD closed after it was submitted</a:t>
                      </a:r>
                    </a:p>
                  </a:txBody>
                  <a:tcPr marL="54864" marR="54864" marT="27432" marB="27432" anchor="ctr">
                    <a:solidFill>
                      <a:srgbClr val="F4F7FB"/>
                    </a:solidFill>
                  </a:tcPr>
                </a:tc>
                <a:tc>
                  <a:txBody>
                    <a:bodyPr wrap="square"/>
                    <a:lstStyle/>
                    <a:p>
                      <a:r>
                        <a:rPr sz="919" b="0">
                          <a:solidFill>
                            <a:srgbClr val="1B2333"/>
                          </a:solidFill>
                          <a:latin typeface="Arial"/>
                        </a:rPr>
                        <a:t>Bank re-check every 90 days; lien must show at the bank, not only on paper</a:t>
                      </a:r>
                    </a:p>
                  </a:txBody>
                  <a:tcPr marL="54864" marR="54864" marT="27432" marB="27432" anchor="ctr">
                    <a:solidFill>
                      <a:srgbClr val="F4F7FB"/>
                    </a:solidFill>
                  </a:tcPr>
                </a:tc>
              </a:tr>
              <a:tr h="356616">
                <a:tc>
                  <a:txBody>
                    <a:bodyPr wrap="square"/>
                    <a:lstStyle/>
                    <a:p>
                      <a:r>
                        <a:rPr sz="919" b="1">
                          <a:solidFill>
                            <a:srgbClr val="1B2333"/>
                          </a:solidFill>
                          <a:latin typeface="Arial"/>
                        </a:rPr>
                        <a:t>A clever PDF edit</a:t>
                      </a:r>
                    </a:p>
                  </a:txBody>
                  <a:tcPr marL="54864" marR="54864" marT="27432" marB="27432" anchor="ctr">
                    <a:solidFill>
                      <a:srgbClr val="FFFFFF"/>
                    </a:solidFill>
                  </a:tcPr>
                </a:tc>
                <a:tc>
                  <a:txBody>
                    <a:bodyPr wrap="square"/>
                    <a:lstStyle/>
                    <a:p>
                      <a:r>
                        <a:rPr sz="919" b="0">
                          <a:solidFill>
                            <a:srgbClr val="1B2333"/>
                          </a:solidFill>
                          <a:latin typeface="Arial"/>
                        </a:rPr>
                        <a:t>The bank's record decides, not the file; forensics is a second signal</a:t>
                      </a:r>
                    </a:p>
                  </a:txBody>
                  <a:tcPr marL="54864" marR="54864" marT="27432" marB="27432" anchor="ctr">
                    <a:solidFill>
                      <a:srgbClr val="FFFFFF"/>
                    </a:solidFill>
                  </a:tcPr>
                </a:tc>
              </a:tr>
              <a:tr h="356616">
                <a:tc>
                  <a:txBody>
                    <a:bodyPr wrap="square"/>
                    <a:lstStyle/>
                    <a:p>
                      <a:r>
                        <a:rPr sz="919" b="1">
                          <a:solidFill>
                            <a:srgbClr val="1B2333"/>
                          </a:solidFill>
                          <a:latin typeface="Arial"/>
                        </a:rPr>
                        <a:t>Rules or amounts change</a:t>
                      </a:r>
                    </a:p>
                  </a:txBody>
                  <a:tcPr marL="54864" marR="54864" marT="27432" marB="27432" anchor="ctr">
                    <a:solidFill>
                      <a:srgbClr val="F4F7FB"/>
                    </a:solidFill>
                  </a:tcPr>
                </a:tc>
                <a:tc>
                  <a:txBody>
                    <a:bodyPr wrap="square"/>
                    <a:lstStyle/>
                    <a:p>
                      <a:r>
                        <a:rPr sz="919" b="0">
                          <a:solidFill>
                            <a:srgbClr val="1B2333"/>
                          </a:solidFill>
                          <a:latin typeface="Arial"/>
                        </a:rPr>
                        <a:t>Rulebook in YAML, versioned per cycle; no code change</a:t>
                      </a:r>
                    </a:p>
                  </a:txBody>
                  <a:tcPr marL="54864" marR="54864" marT="27432" marB="27432" anchor="ctr">
                    <a:solidFill>
                      <a:srgbClr val="F4F7FB"/>
                    </a:solidFill>
                  </a:tcPr>
                </a:tc>
              </a:tr>
            </a:tbl>
          </a:graphicData>
        </a:graphic>
      </p:graphicFrame>
      <p:pic>
        <p:nvPicPr>
          <p:cNvPr id="17432" name="Picture 17431" descr="ladder.png"/>
          <p:cNvPicPr>
            <a:picLocks noChangeAspect="1"/>
          </p:cNvPicPr>
          <p:nvPr/>
        </p:nvPicPr>
        <p:blipFill>
          <a:blip r:embed="rId4"/>
          <a:stretch>
            <a:fillRect/>
          </a:stretch>
        </p:blipFill>
        <p:spPr>
          <a:xfrm>
            <a:off x="7882127" y="1115568"/>
            <a:ext cx="3931920" cy="2491240"/>
          </a:xfrm>
          <a:prstGeom prst="rect">
            <a:avLst/>
          </a:prstGeom>
        </p:spPr>
      </p:pic>
      <p:sp>
        <p:nvSpPr>
          <p:cNvPr id="17433" name="Rounded Rectangle 17432"/>
          <p:cNvSpPr/>
          <p:nvPr/>
        </p:nvSpPr>
        <p:spPr>
          <a:xfrm>
            <a:off x="7882127" y="3716535"/>
            <a:ext cx="3931920" cy="2501384"/>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4" name="TextBox 17433"/>
          <p:cNvSpPr txBox="1"/>
          <p:nvPr/>
        </p:nvSpPr>
        <p:spPr>
          <a:xfrm>
            <a:off x="7973568" y="3762255"/>
            <a:ext cx="3749039" cy="2364224"/>
          </a:xfrm>
          <a:prstGeom prst="rect">
            <a:avLst/>
          </a:prstGeom>
          <a:noFill/>
        </p:spPr>
        <p:txBody>
          <a:bodyPr wrap="square" lIns="36576" rIns="36576" tIns="18288" bIns="18288" anchor="t"/>
          <a:lstStyle/>
          <a:p>
            <a:pPr algn="l">
              <a:spcAft>
                <a:spcPts val="300"/>
              </a:spcAft>
              <a:buNone/>
            </a:pPr>
            <a:r>
              <a:rPr sz="1200" b="1" i="0" u="none">
                <a:solidFill>
                  <a:srgbClr val="1F3864"/>
                </a:solidFill>
                <a:latin typeface="Arial"/>
              </a:rPr>
              <a:t>Viability</a:t>
            </a:r>
          </a:p>
          <a:p>
            <a:pPr algn="l" marL="146304" indent="-128016">
              <a:spcAft>
                <a:spcPts val="300"/>
              </a:spcAft>
              <a:buChar char="•"/>
            </a:pPr>
            <a:r>
              <a:rPr sz="980" b="1" i="0" u="none">
                <a:solidFill>
                  <a:srgbClr val="0070C0"/>
                </a:solidFill>
                <a:latin typeface="Arial"/>
              </a:rPr>
              <a:t>Pilot</a:t>
            </a:r>
            <a:r>
              <a:rPr sz="980" b="0" i="0" u="none">
                <a:solidFill>
                  <a:srgbClr val="1B2333"/>
                </a:solidFill>
                <a:latin typeface="Arial"/>
              </a:rPr>
              <a:t>: our college's deposit records (with permission), then one AICTE regional office, then national</a:t>
            </a:r>
          </a:p>
          <a:p>
            <a:pPr algn="l" marL="146304" indent="-128016">
              <a:spcAft>
                <a:spcPts val="300"/>
              </a:spcAft>
              <a:buChar char="•"/>
            </a:pPr>
            <a:r>
              <a:rPr sz="980" b="1" i="0" u="none">
                <a:solidFill>
                  <a:srgbClr val="0070C0"/>
                </a:solidFill>
                <a:latin typeface="Arial"/>
              </a:rPr>
              <a:t>Reuse</a:t>
            </a:r>
            <a:r>
              <a:rPr sz="980" b="0" i="0" u="none">
                <a:solidFill>
                  <a:srgbClr val="1B2333"/>
                </a:solidFill>
                <a:latin typeface="Arial"/>
              </a:rPr>
              <a:t>: UGC, NCTE, PCI and any department that holds FDRs as security, like the municipal bodies in the 2026 cases</a:t>
            </a:r>
          </a:p>
          <a:p>
            <a:pPr algn="l" marL="146304" indent="-128016">
              <a:spcAft>
                <a:spcPts val="300"/>
              </a:spcAft>
              <a:buChar char="•"/>
            </a:pPr>
            <a:r>
              <a:rPr sz="980" b="1" i="0" u="none">
                <a:solidFill>
                  <a:srgbClr val="0070C0"/>
                </a:solidFill>
                <a:latin typeface="Arial"/>
              </a:rPr>
              <a:t>Sustainable</a:t>
            </a:r>
            <a:r>
              <a:rPr sz="980" b="0" i="0" u="none">
                <a:solidFill>
                  <a:srgbClr val="1B2333"/>
                </a:solidFill>
                <a:latin typeface="Arial"/>
              </a:rPr>
              <a:t>: open source under AICTE; each bank is onboarded once, through an adapter</a:t>
            </a:r>
          </a:p>
          <a:p>
            <a:pPr algn="l" marL="146304" indent="-128016">
              <a:spcAft>
                <a:spcPts val="300"/>
              </a:spcAft>
              <a:buChar char="•"/>
            </a:pPr>
            <a:r>
              <a:rPr sz="980" b="1" i="0" u="none">
                <a:solidFill>
                  <a:srgbClr val="0070C0"/>
                </a:solidFill>
                <a:latin typeface="Arial"/>
              </a:rPr>
              <a:t>Scale estimate</a:t>
            </a:r>
            <a:r>
              <a:rPr sz="980" b="0" i="0" u="none">
                <a:solidFill>
                  <a:srgbClr val="1B2333"/>
                </a:solidFill>
                <a:latin typeface="Arial"/>
              </a:rPr>
              <a:t>: if AICTE holds ~20,000 deposits, quarterly re-checks are ~220 bank calls a day; one worker does that in under a minute</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200"/>
              <a:t>[Team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15568"/>
            <a:ext cx="5577840" cy="274320"/>
          </a:xfrm>
          <a:prstGeom prst="rect">
            <a:avLst/>
          </a:prstGeom>
          <a:noFill/>
        </p:spPr>
        <p:txBody>
          <a:bodyPr wrap="square" lIns="36576" rIns="36576" tIns="18288" bIns="18288" anchor="t"/>
          <a:lstStyle/>
          <a:p>
            <a:pPr algn="l">
              <a:spcAft>
                <a:spcPts val="300"/>
              </a:spcAft>
              <a:buNone/>
            </a:pPr>
            <a:r>
              <a:rPr sz="1250" b="1" i="0" u="none">
                <a:solidFill>
                  <a:srgbClr val="0070C0"/>
                </a:solidFill>
                <a:latin typeface="Arial"/>
              </a:rPr>
              <a:t>Potential impact on the target audience</a:t>
            </a:r>
          </a:p>
        </p:txBody>
      </p:sp>
      <p:sp>
        <p:nvSpPr>
          <p:cNvPr id="17411" name="Oval 17410"/>
          <p:cNvSpPr/>
          <p:nvPr/>
        </p:nvSpPr>
        <p:spPr>
          <a:xfrm>
            <a:off x="411480" y="1517904"/>
            <a:ext cx="457200" cy="4572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R</a:t>
            </a:r>
          </a:p>
        </p:txBody>
      </p:sp>
      <p:sp>
        <p:nvSpPr>
          <p:cNvPr id="17412" name="TextBox 17411"/>
          <p:cNvSpPr txBox="1"/>
          <p:nvPr/>
        </p:nvSpPr>
        <p:spPr>
          <a:xfrm>
            <a:off x="1005840" y="1463040"/>
            <a:ext cx="4937760" cy="731520"/>
          </a:xfrm>
          <a:prstGeom prst="rect">
            <a:avLst/>
          </a:prstGeom>
          <a:noFill/>
        </p:spPr>
        <p:txBody>
          <a:bodyPr wrap="square" lIns="36576" rIns="36576" tIns="18288" bIns="18288" anchor="t"/>
          <a:lstStyle/>
          <a:p>
            <a:pPr algn="l">
              <a:spcAft>
                <a:spcPts val="300"/>
              </a:spcAft>
              <a:buNone/>
            </a:pPr>
            <a:r>
              <a:rPr sz="1200" b="1" i="0" u="none">
                <a:solidFill>
                  <a:srgbClr val="1F3864"/>
                </a:solidFill>
                <a:latin typeface="Arial"/>
              </a:rPr>
              <a:t>AICTE Regulation Bureau</a:t>
            </a:r>
          </a:p>
          <a:p>
            <a:pPr algn="l">
              <a:spcAft>
                <a:spcPts val="300"/>
              </a:spcAft>
              <a:buNone/>
            </a:pPr>
            <a:r>
              <a:rPr sz="1050" b="0" i="0" u="none">
                <a:solidFill>
                  <a:srgbClr val="1B2333"/>
                </a:solidFill>
                <a:latin typeface="Arial"/>
              </a:rPr>
              <a:t>One register for every deposit; reminders and escalations automatic; release with a full trail</a:t>
            </a:r>
          </a:p>
        </p:txBody>
      </p:sp>
      <p:sp>
        <p:nvSpPr>
          <p:cNvPr id="17413" name="Oval 17412"/>
          <p:cNvSpPr/>
          <p:nvPr/>
        </p:nvSpPr>
        <p:spPr>
          <a:xfrm>
            <a:off x="411480" y="2304288"/>
            <a:ext cx="457200" cy="457200"/>
          </a:xfrm>
          <a:prstGeom prst="ellipse">
            <a:avLst/>
          </a:prstGeom>
          <a:solidFill>
            <a:srgbClr val="1A7F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I</a:t>
            </a:r>
          </a:p>
        </p:txBody>
      </p:sp>
      <p:sp>
        <p:nvSpPr>
          <p:cNvPr id="17414" name="TextBox 17413"/>
          <p:cNvSpPr txBox="1"/>
          <p:nvPr/>
        </p:nvSpPr>
        <p:spPr>
          <a:xfrm>
            <a:off x="1005840" y="2249424"/>
            <a:ext cx="4937760" cy="731520"/>
          </a:xfrm>
          <a:prstGeom prst="rect">
            <a:avLst/>
          </a:prstGeom>
          <a:noFill/>
        </p:spPr>
        <p:txBody>
          <a:bodyPr wrap="square" lIns="36576" rIns="36576" tIns="18288" bIns="18288" anchor="t"/>
          <a:lstStyle/>
          <a:p>
            <a:pPr algn="l">
              <a:spcAft>
                <a:spcPts val="300"/>
              </a:spcAft>
              <a:buNone/>
            </a:pPr>
            <a:r>
              <a:rPr sz="1200" b="1" i="0" u="none">
                <a:solidFill>
                  <a:srgbClr val="1F3864"/>
                </a:solidFill>
                <a:latin typeface="Arial"/>
              </a:rPr>
              <a:t>Honest institutions</a:t>
            </a:r>
          </a:p>
          <a:p>
            <a:pPr algn="l">
              <a:spcAft>
                <a:spcPts val="300"/>
              </a:spcAft>
              <a:buNone/>
            </a:pPr>
            <a:r>
              <a:rPr sz="1050" b="0" i="0" u="none">
                <a:solidFill>
                  <a:srgbClr val="1B2333"/>
                </a:solidFill>
                <a:latin typeface="Arial"/>
              </a:rPr>
              <a:t>Upload once, get reminded before maturity, get the deposit released without chasing letters</a:t>
            </a:r>
          </a:p>
        </p:txBody>
      </p:sp>
      <p:sp>
        <p:nvSpPr>
          <p:cNvPr id="17415" name="Oval 17414"/>
          <p:cNvSpPr/>
          <p:nvPr/>
        </p:nvSpPr>
        <p:spPr>
          <a:xfrm>
            <a:off x="411480" y="3090672"/>
            <a:ext cx="457200" cy="457200"/>
          </a:xfrm>
          <a:prstGeom prst="ellipse">
            <a:avLst/>
          </a:prstGeom>
          <a:solidFill>
            <a:srgbClr val="B8640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B</a:t>
            </a:r>
          </a:p>
        </p:txBody>
      </p:sp>
      <p:sp>
        <p:nvSpPr>
          <p:cNvPr id="17416" name="TextBox 17415"/>
          <p:cNvSpPr txBox="1"/>
          <p:nvPr/>
        </p:nvSpPr>
        <p:spPr>
          <a:xfrm>
            <a:off x="1005840" y="3035808"/>
            <a:ext cx="4937760" cy="731520"/>
          </a:xfrm>
          <a:prstGeom prst="rect">
            <a:avLst/>
          </a:prstGeom>
          <a:noFill/>
        </p:spPr>
        <p:txBody>
          <a:bodyPr wrap="square" lIns="36576" rIns="36576" tIns="18288" bIns="18288" anchor="t"/>
          <a:lstStyle/>
          <a:p>
            <a:pPr algn="l">
              <a:spcAft>
                <a:spcPts val="300"/>
              </a:spcAft>
              <a:buNone/>
            </a:pPr>
            <a:r>
              <a:rPr sz="1200" b="1" i="0" u="none">
                <a:solidFill>
                  <a:srgbClr val="1F3864"/>
                </a:solidFill>
                <a:latin typeface="Arial"/>
              </a:rPr>
              <a:t>Banks</a:t>
            </a:r>
          </a:p>
          <a:p>
            <a:pPr algn="l">
              <a:spcAft>
                <a:spcPts val="300"/>
              </a:spcAft>
              <a:buNone/>
            </a:pPr>
            <a:r>
              <a:rPr sz="1050" b="0" i="0" u="none">
                <a:solidFill>
                  <a:srgbClr val="1B2333"/>
                </a:solidFill>
                <a:latin typeface="Arial"/>
              </a:rPr>
              <a:t>Answer once through an API or a one-click link, instead of letters and phone calls</a:t>
            </a:r>
          </a:p>
        </p:txBody>
      </p:sp>
      <p:sp>
        <p:nvSpPr>
          <p:cNvPr id="17417" name="Oval 17416"/>
          <p:cNvSpPr/>
          <p:nvPr/>
        </p:nvSpPr>
        <p:spPr>
          <a:xfrm>
            <a:off x="411480" y="3877055"/>
            <a:ext cx="457200" cy="4572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S</a:t>
            </a:r>
          </a:p>
        </p:txBody>
      </p:sp>
      <p:sp>
        <p:nvSpPr>
          <p:cNvPr id="17418" name="TextBox 17417"/>
          <p:cNvSpPr txBox="1"/>
          <p:nvPr/>
        </p:nvSpPr>
        <p:spPr>
          <a:xfrm>
            <a:off x="1005840" y="3822191"/>
            <a:ext cx="4937760" cy="731520"/>
          </a:xfrm>
          <a:prstGeom prst="rect">
            <a:avLst/>
          </a:prstGeom>
          <a:noFill/>
        </p:spPr>
        <p:txBody>
          <a:bodyPr wrap="square" lIns="36576" rIns="36576" tIns="18288" bIns="18288" anchor="t"/>
          <a:lstStyle/>
          <a:p>
            <a:pPr algn="l">
              <a:spcAft>
                <a:spcPts val="300"/>
              </a:spcAft>
              <a:buNone/>
            </a:pPr>
            <a:r>
              <a:rPr sz="1200" b="1" i="0" u="none">
                <a:solidFill>
                  <a:srgbClr val="1F3864"/>
                </a:solidFill>
                <a:latin typeface="Arial"/>
              </a:rPr>
              <a:t>Students and the public</a:t>
            </a:r>
          </a:p>
          <a:p>
            <a:pPr algn="l">
              <a:spcAft>
                <a:spcPts val="300"/>
              </a:spcAft>
              <a:buNone/>
            </a:pPr>
            <a:r>
              <a:rPr sz="1050" b="0" i="0" u="none">
                <a:solidFill>
                  <a:srgbClr val="1B2333"/>
                </a:solidFill>
                <a:latin typeface="Arial"/>
              </a:rPr>
              <a:t>The security behind each approved institution is real money at a bank, not a piece of paper</a:t>
            </a:r>
          </a:p>
        </p:txBody>
      </p:sp>
      <p:sp>
        <p:nvSpPr>
          <p:cNvPr id="17419" name="TextBox 17418"/>
          <p:cNvSpPr txBox="1"/>
          <p:nvPr/>
        </p:nvSpPr>
        <p:spPr>
          <a:xfrm>
            <a:off x="6172200" y="1115568"/>
            <a:ext cx="5669280" cy="274320"/>
          </a:xfrm>
          <a:prstGeom prst="rect">
            <a:avLst/>
          </a:prstGeom>
          <a:noFill/>
        </p:spPr>
        <p:txBody>
          <a:bodyPr wrap="square" lIns="36576" rIns="36576" tIns="18288" bIns="18288" anchor="t"/>
          <a:lstStyle/>
          <a:p>
            <a:pPr algn="l">
              <a:spcAft>
                <a:spcPts val="300"/>
              </a:spcAft>
              <a:buNone/>
            </a:pPr>
            <a:r>
              <a:rPr sz="1250" b="1" i="0" u="none">
                <a:solidFill>
                  <a:srgbClr val="0070C0"/>
                </a:solidFill>
                <a:latin typeface="Arial"/>
              </a:rPr>
              <a:t>Benefits of the solution (social, economic, environmental, etc.)</a:t>
            </a:r>
          </a:p>
        </p:txBody>
      </p:sp>
      <p:sp>
        <p:nvSpPr>
          <p:cNvPr id="17420" name="Rounded Rectangle 17419"/>
          <p:cNvSpPr/>
          <p:nvPr/>
        </p:nvSpPr>
        <p:spPr>
          <a:xfrm>
            <a:off x="6172200" y="1444752"/>
            <a:ext cx="2761488" cy="1481328"/>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1" name="TextBox 17420"/>
          <p:cNvSpPr txBox="1"/>
          <p:nvPr/>
        </p:nvSpPr>
        <p:spPr>
          <a:xfrm>
            <a:off x="6263640" y="1517904"/>
            <a:ext cx="2578608" cy="274320"/>
          </a:xfrm>
          <a:prstGeom prst="rect">
            <a:avLst/>
          </a:prstGeom>
          <a:noFill/>
        </p:spPr>
        <p:txBody>
          <a:bodyPr wrap="square" lIns="36576" rIns="36576" tIns="18288" bIns="18288" anchor="t"/>
          <a:lstStyle/>
          <a:p>
            <a:pPr algn="l">
              <a:spcAft>
                <a:spcPts val="300"/>
              </a:spcAft>
              <a:buNone/>
            </a:pPr>
            <a:r>
              <a:rPr sz="1250" b="1" i="0" u="none">
                <a:solidFill>
                  <a:srgbClr val="0070C0"/>
                </a:solidFill>
                <a:latin typeface="Arial"/>
              </a:rPr>
              <a:t>Social</a:t>
            </a:r>
          </a:p>
        </p:txBody>
      </p:sp>
      <p:sp>
        <p:nvSpPr>
          <p:cNvPr id="17422" name="TextBox 17421"/>
          <p:cNvSpPr txBox="1"/>
          <p:nvPr/>
        </p:nvSpPr>
        <p:spPr>
          <a:xfrm>
            <a:off x="6263640" y="1828800"/>
            <a:ext cx="2578608" cy="1060704"/>
          </a:xfrm>
          <a:prstGeom prst="rect">
            <a:avLst/>
          </a:prstGeom>
          <a:noFill/>
        </p:spPr>
        <p:txBody>
          <a:bodyPr wrap="square" lIns="36576" rIns="36576" tIns="18288" bIns="18288" anchor="t"/>
          <a:lstStyle/>
          <a:p>
            <a:pPr algn="l" marL="146304" indent="-128016">
              <a:spcAft>
                <a:spcPts val="200"/>
              </a:spcAft>
              <a:buChar char="•"/>
            </a:pPr>
            <a:r>
              <a:rPr sz="1050" b="0" i="0" u="none">
                <a:solidFill>
                  <a:srgbClr val="1B2333"/>
                </a:solidFill>
                <a:latin typeface="Arial"/>
              </a:rPr>
              <a:t>Deposits that back approvals are real</a:t>
            </a:r>
          </a:p>
          <a:p>
            <a:pPr algn="l" marL="146304" indent="-128016">
              <a:spcAft>
                <a:spcPts val="200"/>
              </a:spcAft>
              <a:buChar char="•"/>
            </a:pPr>
            <a:r>
              <a:rPr sz="1050" b="0" i="0" u="none">
                <a:solidFill>
                  <a:srgbClr val="1B2333"/>
                </a:solidFill>
                <a:latin typeface="Arial"/>
              </a:rPr>
              <a:t>Faster, transparent release for genuine institutions</a:t>
            </a:r>
          </a:p>
          <a:p>
            <a:pPr algn="l" marL="146304" indent="-128016">
              <a:spcAft>
                <a:spcPts val="200"/>
              </a:spcAft>
              <a:buChar char="•"/>
            </a:pPr>
            <a:r>
              <a:rPr sz="1050" b="0" i="0" u="none">
                <a:solidFill>
                  <a:srgbClr val="1B2333"/>
                </a:solidFill>
                <a:latin typeface="Arial"/>
              </a:rPr>
              <a:t>Fewer disputes: every step on record</a:t>
            </a:r>
          </a:p>
        </p:txBody>
      </p:sp>
      <p:sp>
        <p:nvSpPr>
          <p:cNvPr id="17423" name="Rounded Rectangle 17422"/>
          <p:cNvSpPr/>
          <p:nvPr/>
        </p:nvSpPr>
        <p:spPr>
          <a:xfrm>
            <a:off x="9061704" y="1444752"/>
            <a:ext cx="2761488" cy="1481328"/>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4" name="TextBox 17423"/>
          <p:cNvSpPr txBox="1"/>
          <p:nvPr/>
        </p:nvSpPr>
        <p:spPr>
          <a:xfrm>
            <a:off x="9153144" y="1517904"/>
            <a:ext cx="2578608" cy="274320"/>
          </a:xfrm>
          <a:prstGeom prst="rect">
            <a:avLst/>
          </a:prstGeom>
          <a:noFill/>
        </p:spPr>
        <p:txBody>
          <a:bodyPr wrap="square" lIns="36576" rIns="36576" tIns="18288" bIns="18288" anchor="t"/>
          <a:lstStyle/>
          <a:p>
            <a:pPr algn="l">
              <a:spcAft>
                <a:spcPts val="300"/>
              </a:spcAft>
              <a:buNone/>
            </a:pPr>
            <a:r>
              <a:rPr sz="1250" b="1" i="0" u="none">
                <a:solidFill>
                  <a:srgbClr val="1A7F4B"/>
                </a:solidFill>
                <a:latin typeface="Arial"/>
              </a:rPr>
              <a:t>Economic</a:t>
            </a:r>
          </a:p>
        </p:txBody>
      </p:sp>
      <p:sp>
        <p:nvSpPr>
          <p:cNvPr id="17425" name="TextBox 17424"/>
          <p:cNvSpPr txBox="1"/>
          <p:nvPr/>
        </p:nvSpPr>
        <p:spPr>
          <a:xfrm>
            <a:off x="9153144" y="1828800"/>
            <a:ext cx="2578608" cy="1060704"/>
          </a:xfrm>
          <a:prstGeom prst="rect">
            <a:avLst/>
          </a:prstGeom>
          <a:noFill/>
        </p:spPr>
        <p:txBody>
          <a:bodyPr wrap="square" lIns="36576" rIns="36576" tIns="18288" bIns="18288" anchor="t"/>
          <a:lstStyle/>
          <a:p>
            <a:pPr algn="l" marL="146304" indent="-128016">
              <a:spcAft>
                <a:spcPts val="200"/>
              </a:spcAft>
              <a:buChar char="•"/>
            </a:pPr>
            <a:r>
              <a:rPr sz="1050" b="0" i="0" u="none">
                <a:solidFill>
                  <a:srgbClr val="1B2333"/>
                </a:solidFill>
                <a:latin typeface="Arial"/>
              </a:rPr>
              <a:t>A fake or closed FDR is caught in weeks, not years</a:t>
            </a:r>
          </a:p>
          <a:p>
            <a:pPr algn="l" marL="146304" indent="-128016">
              <a:spcAft>
                <a:spcPts val="200"/>
              </a:spcAft>
              <a:buChar char="•"/>
            </a:pPr>
            <a:r>
              <a:rPr sz="1050" b="0" i="0" u="none">
                <a:solidFill>
                  <a:srgbClr val="1B2333"/>
                </a:solidFill>
                <a:latin typeface="Arial"/>
              </a:rPr>
              <a:t>Officer time saved on letters and follow-up</a:t>
            </a:r>
          </a:p>
          <a:p>
            <a:pPr algn="l" marL="146304" indent="-128016">
              <a:spcAft>
                <a:spcPts val="200"/>
              </a:spcAft>
              <a:buChar char="•"/>
            </a:pPr>
            <a:r>
              <a:rPr sz="1050" b="0" i="0" u="none">
                <a:solidFill>
                  <a:srgbClr val="1B2333"/>
                </a:solidFill>
                <a:latin typeface="Arial"/>
              </a:rPr>
              <a:t>₹0 licence, no per-check fee</a:t>
            </a:r>
          </a:p>
        </p:txBody>
      </p:sp>
      <p:sp>
        <p:nvSpPr>
          <p:cNvPr id="17426" name="Rounded Rectangle 17425"/>
          <p:cNvSpPr/>
          <p:nvPr/>
        </p:nvSpPr>
        <p:spPr>
          <a:xfrm>
            <a:off x="6172200" y="3035808"/>
            <a:ext cx="2761488" cy="1481328"/>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7" name="TextBox 17426"/>
          <p:cNvSpPr txBox="1"/>
          <p:nvPr/>
        </p:nvSpPr>
        <p:spPr>
          <a:xfrm>
            <a:off x="6263640" y="3108960"/>
            <a:ext cx="2578608" cy="274320"/>
          </a:xfrm>
          <a:prstGeom prst="rect">
            <a:avLst/>
          </a:prstGeom>
          <a:noFill/>
        </p:spPr>
        <p:txBody>
          <a:bodyPr wrap="square" lIns="36576" rIns="36576" tIns="18288" bIns="18288" anchor="t"/>
          <a:lstStyle/>
          <a:p>
            <a:pPr algn="l">
              <a:spcAft>
                <a:spcPts val="300"/>
              </a:spcAft>
              <a:buNone/>
            </a:pPr>
            <a:r>
              <a:rPr sz="1250" b="1" i="0" u="none">
                <a:solidFill>
                  <a:srgbClr val="2E7D32"/>
                </a:solidFill>
                <a:latin typeface="Arial"/>
              </a:rPr>
              <a:t>Environmental</a:t>
            </a:r>
          </a:p>
        </p:txBody>
      </p:sp>
      <p:sp>
        <p:nvSpPr>
          <p:cNvPr id="17428" name="TextBox 17427"/>
          <p:cNvSpPr txBox="1"/>
          <p:nvPr/>
        </p:nvSpPr>
        <p:spPr>
          <a:xfrm>
            <a:off x="6263640" y="3419856"/>
            <a:ext cx="2578608" cy="1060704"/>
          </a:xfrm>
          <a:prstGeom prst="rect">
            <a:avLst/>
          </a:prstGeom>
          <a:noFill/>
        </p:spPr>
        <p:txBody>
          <a:bodyPr wrap="square" lIns="36576" rIns="36576" tIns="18288" bIns="18288" anchor="t"/>
          <a:lstStyle/>
          <a:p>
            <a:pPr algn="l" marL="146304" indent="-128016">
              <a:spcAft>
                <a:spcPts val="200"/>
              </a:spcAft>
              <a:buChar char="•"/>
            </a:pPr>
            <a:r>
              <a:rPr sz="1050" b="0" i="0" u="none">
                <a:solidFill>
                  <a:srgbClr val="1B2333"/>
                </a:solidFill>
                <a:latin typeface="Arial"/>
              </a:rPr>
              <a:t>Paperless from upload to discharge letter</a:t>
            </a:r>
          </a:p>
          <a:p>
            <a:pPr algn="l" marL="146304" indent="-128016">
              <a:spcAft>
                <a:spcPts val="200"/>
              </a:spcAft>
              <a:buChar char="•"/>
            </a:pPr>
            <a:r>
              <a:rPr sz="1050" b="0" i="0" u="none">
                <a:solidFill>
                  <a:srgbClr val="1B2333"/>
                </a:solidFill>
                <a:latin typeface="Arial"/>
              </a:rPr>
              <a:t>No couriered receipts or verification letters</a:t>
            </a:r>
          </a:p>
          <a:p>
            <a:pPr algn="l" marL="146304" indent="-128016">
              <a:spcAft>
                <a:spcPts val="200"/>
              </a:spcAft>
              <a:buChar char="•"/>
            </a:pPr>
            <a:r>
              <a:rPr sz="1050" b="0" i="0" u="none">
                <a:solidFill>
                  <a:srgbClr val="1B2333"/>
                </a:solidFill>
                <a:latin typeface="Arial"/>
              </a:rPr>
              <a:t>Bank e-FDRs preferred over paper</a:t>
            </a:r>
          </a:p>
        </p:txBody>
      </p:sp>
      <p:sp>
        <p:nvSpPr>
          <p:cNvPr id="17429" name="Rounded Rectangle 17428"/>
          <p:cNvSpPr/>
          <p:nvPr/>
        </p:nvSpPr>
        <p:spPr>
          <a:xfrm>
            <a:off x="9061704" y="3035808"/>
            <a:ext cx="2761488" cy="1481328"/>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0" name="TextBox 17429"/>
          <p:cNvSpPr txBox="1"/>
          <p:nvPr/>
        </p:nvSpPr>
        <p:spPr>
          <a:xfrm>
            <a:off x="9153144" y="3108960"/>
            <a:ext cx="2578608" cy="274320"/>
          </a:xfrm>
          <a:prstGeom prst="rect">
            <a:avLst/>
          </a:prstGeom>
          <a:noFill/>
        </p:spPr>
        <p:txBody>
          <a:bodyPr wrap="square" lIns="36576" rIns="36576" tIns="18288" bIns="18288" anchor="t"/>
          <a:lstStyle/>
          <a:p>
            <a:pPr algn="l">
              <a:spcAft>
                <a:spcPts val="300"/>
              </a:spcAft>
              <a:buNone/>
            </a:pPr>
            <a:r>
              <a:rPr sz="1250" b="1" i="0" u="none">
                <a:solidFill>
                  <a:srgbClr val="1F3864"/>
                </a:solidFill>
                <a:latin typeface="Arial"/>
              </a:rPr>
              <a:t>Governance</a:t>
            </a:r>
          </a:p>
        </p:txBody>
      </p:sp>
      <p:sp>
        <p:nvSpPr>
          <p:cNvPr id="17431" name="TextBox 17430"/>
          <p:cNvSpPr txBox="1"/>
          <p:nvPr/>
        </p:nvSpPr>
        <p:spPr>
          <a:xfrm>
            <a:off x="9153144" y="3419856"/>
            <a:ext cx="2578608" cy="1060704"/>
          </a:xfrm>
          <a:prstGeom prst="rect">
            <a:avLst/>
          </a:prstGeom>
          <a:noFill/>
        </p:spPr>
        <p:txBody>
          <a:bodyPr wrap="square" lIns="36576" rIns="36576" tIns="18288" bIns="18288" anchor="t"/>
          <a:lstStyle/>
          <a:p>
            <a:pPr algn="l" marL="146304" indent="-128016">
              <a:spcAft>
                <a:spcPts val="200"/>
              </a:spcAft>
              <a:buChar char="•"/>
            </a:pPr>
            <a:r>
              <a:rPr sz="1050" b="0" i="0" u="none">
                <a:solidFill>
                  <a:srgbClr val="1B2333"/>
                </a:solidFill>
                <a:latin typeface="Arial"/>
              </a:rPr>
              <a:t>Institution's claim and bank's record kept apart, as the PS asks</a:t>
            </a:r>
          </a:p>
          <a:p>
            <a:pPr algn="l" marL="146304" indent="-128016">
              <a:spcAft>
                <a:spcPts val="200"/>
              </a:spcAft>
              <a:buChar char="•"/>
            </a:pPr>
            <a:r>
              <a:rPr sz="1050" b="0" i="0" u="none">
                <a:solidFill>
                  <a:srgbClr val="1B2333"/>
                </a:solidFill>
                <a:latin typeface="Arial"/>
              </a:rPr>
              <a:t>Two officials on every release</a:t>
            </a:r>
          </a:p>
          <a:p>
            <a:pPr algn="l" marL="146304" indent="-128016">
              <a:spcAft>
                <a:spcPts val="200"/>
              </a:spcAft>
              <a:buChar char="•"/>
            </a:pPr>
            <a:r>
              <a:rPr sz="1050" b="0" i="0" u="none">
                <a:solidFill>
                  <a:srgbClr val="1B2333"/>
                </a:solidFill>
                <a:latin typeface="Arial"/>
              </a:rPr>
              <a:t>Tamper-evident audit trail</a:t>
            </a:r>
          </a:p>
        </p:txBody>
      </p:sp>
      <p:sp>
        <p:nvSpPr>
          <p:cNvPr id="17432" name="TextBox 17431"/>
          <p:cNvSpPr txBox="1"/>
          <p:nvPr/>
        </p:nvSpPr>
        <p:spPr>
          <a:xfrm>
            <a:off x="365760" y="4663440"/>
            <a:ext cx="11430000" cy="274320"/>
          </a:xfrm>
          <a:prstGeom prst="rect">
            <a:avLst/>
          </a:prstGeom>
          <a:noFill/>
        </p:spPr>
        <p:txBody>
          <a:bodyPr wrap="square" lIns="36576" rIns="36576" tIns="18288" bIns="18288" anchor="t"/>
          <a:lstStyle/>
          <a:p>
            <a:pPr algn="l">
              <a:spcAft>
                <a:spcPts val="300"/>
              </a:spcAft>
              <a:buNone/>
            </a:pPr>
            <a:r>
              <a:rPr sz="1200" b="1" i="0" u="none">
                <a:solidFill>
                  <a:srgbClr val="1F3864"/>
                </a:solidFill>
                <a:latin typeface="Arial"/>
              </a:rPr>
              <a:t>Why it matters: reported cases</a:t>
            </a:r>
          </a:p>
        </p:txBody>
      </p:sp>
      <p:sp>
        <p:nvSpPr>
          <p:cNvPr id="17433" name="Rounded Rectangle 17432"/>
          <p:cNvSpPr/>
          <p:nvPr/>
        </p:nvSpPr>
        <p:spPr>
          <a:xfrm>
            <a:off x="365760" y="4956048"/>
            <a:ext cx="2768346" cy="1261872"/>
          </a:xfrm>
          <a:prstGeom prst="roundRect">
            <a:avLst>
              <a:gd name="adj" fmla="val 6000"/>
            </a:avLst>
          </a:prstGeom>
          <a:solidFill>
            <a:srgbClr val="FFFFFF"/>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4" name="TextBox 17433"/>
          <p:cNvSpPr txBox="1"/>
          <p:nvPr/>
        </p:nvSpPr>
        <p:spPr>
          <a:xfrm>
            <a:off x="457200" y="4974336"/>
            <a:ext cx="2585465" cy="457200"/>
          </a:xfrm>
          <a:prstGeom prst="rect">
            <a:avLst/>
          </a:prstGeom>
          <a:noFill/>
        </p:spPr>
        <p:txBody>
          <a:bodyPr wrap="square" lIns="36576" rIns="36576" tIns="18288" bIns="18288" anchor="t"/>
          <a:lstStyle/>
          <a:p>
            <a:pPr algn="l">
              <a:spcAft>
                <a:spcPts val="300"/>
              </a:spcAft>
              <a:buNone/>
            </a:pPr>
            <a:r>
              <a:rPr sz="2200" b="1" i="0" u="none">
                <a:solidFill>
                  <a:srgbClr val="C62828"/>
                </a:solidFill>
                <a:latin typeface="Arial"/>
              </a:rPr>
              <a:t>₹116.84 Cr</a:t>
            </a:r>
          </a:p>
        </p:txBody>
      </p:sp>
      <p:sp>
        <p:nvSpPr>
          <p:cNvPr id="17435" name="TextBox 17434"/>
          <p:cNvSpPr txBox="1"/>
          <p:nvPr/>
        </p:nvSpPr>
        <p:spPr>
          <a:xfrm>
            <a:off x="457200" y="5440680"/>
            <a:ext cx="2585465" cy="777240"/>
          </a:xfrm>
          <a:prstGeom prst="rect">
            <a:avLst/>
          </a:prstGeom>
          <a:noFill/>
        </p:spPr>
        <p:txBody>
          <a:bodyPr wrap="square" lIns="36576" rIns="36576" tIns="18288" bIns="18288" anchor="t"/>
          <a:lstStyle/>
          <a:p>
            <a:pPr algn="l">
              <a:spcAft>
                <a:spcPts val="300"/>
              </a:spcAft>
              <a:buNone/>
            </a:pPr>
            <a:r>
              <a:rPr sz="930" b="0" i="0" u="none">
                <a:solidFill>
                  <a:srgbClr val="1B2333"/>
                </a:solidFill>
                <a:latin typeface="Arial"/>
              </a:rPr>
              <a:t>of Chandigarh MC's FDRs were not in the bank's system; nobody noticed for over a year (The Tribune, Mar 2026)</a:t>
            </a:r>
          </a:p>
        </p:txBody>
      </p:sp>
      <p:sp>
        <p:nvSpPr>
          <p:cNvPr id="17436" name="Rounded Rectangle 17435"/>
          <p:cNvSpPr/>
          <p:nvPr/>
        </p:nvSpPr>
        <p:spPr>
          <a:xfrm>
            <a:off x="3262122" y="4956048"/>
            <a:ext cx="2768346" cy="1261872"/>
          </a:xfrm>
          <a:prstGeom prst="roundRect">
            <a:avLst>
              <a:gd name="adj" fmla="val 6000"/>
            </a:avLst>
          </a:prstGeom>
          <a:solidFill>
            <a:srgbClr val="FFFFFF"/>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7" name="TextBox 17436"/>
          <p:cNvSpPr txBox="1"/>
          <p:nvPr/>
        </p:nvSpPr>
        <p:spPr>
          <a:xfrm>
            <a:off x="3353562" y="4974336"/>
            <a:ext cx="2585465" cy="457200"/>
          </a:xfrm>
          <a:prstGeom prst="rect">
            <a:avLst/>
          </a:prstGeom>
          <a:noFill/>
        </p:spPr>
        <p:txBody>
          <a:bodyPr wrap="square" lIns="36576" rIns="36576" tIns="18288" bIns="18288" anchor="t"/>
          <a:lstStyle/>
          <a:p>
            <a:pPr algn="l">
              <a:spcAft>
                <a:spcPts val="300"/>
              </a:spcAft>
              <a:buNone/>
            </a:pPr>
            <a:r>
              <a:rPr sz="2200" b="1" i="0" u="none">
                <a:solidFill>
                  <a:srgbClr val="C62828"/>
                </a:solidFill>
                <a:latin typeface="Arial"/>
              </a:rPr>
              <a:t>₹150 Cr</a:t>
            </a:r>
          </a:p>
        </p:txBody>
      </p:sp>
      <p:sp>
        <p:nvSpPr>
          <p:cNvPr id="17438" name="TextBox 17437"/>
          <p:cNvSpPr txBox="1"/>
          <p:nvPr/>
        </p:nvSpPr>
        <p:spPr>
          <a:xfrm>
            <a:off x="3353562" y="5440680"/>
            <a:ext cx="2585465" cy="777240"/>
          </a:xfrm>
          <a:prstGeom prst="rect">
            <a:avLst/>
          </a:prstGeom>
          <a:noFill/>
        </p:spPr>
        <p:txBody>
          <a:bodyPr wrap="square" lIns="36576" rIns="36576" tIns="18288" bIns="18288" anchor="t"/>
          <a:lstStyle/>
          <a:p>
            <a:pPr algn="l">
              <a:spcAft>
                <a:spcPts val="300"/>
              </a:spcAft>
              <a:buNone/>
            </a:pPr>
            <a:r>
              <a:rPr sz="930" b="0" i="0" u="none">
                <a:solidFill>
                  <a:srgbClr val="1B2333"/>
                </a:solidFill>
                <a:latin typeface="Arial"/>
              </a:rPr>
              <a:t>of Panchkula MC's fixed deposits did not exist; found only on a maturity transfer request (Moneylife, Mar 2026)</a:t>
            </a:r>
          </a:p>
        </p:txBody>
      </p:sp>
      <p:sp>
        <p:nvSpPr>
          <p:cNvPr id="17439" name="Rounded Rectangle 17438"/>
          <p:cNvSpPr/>
          <p:nvPr/>
        </p:nvSpPr>
        <p:spPr>
          <a:xfrm>
            <a:off x="6158484" y="4956048"/>
            <a:ext cx="2768346" cy="1261872"/>
          </a:xfrm>
          <a:prstGeom prst="roundRect">
            <a:avLst>
              <a:gd name="adj" fmla="val 6000"/>
            </a:avLst>
          </a:prstGeom>
          <a:solidFill>
            <a:srgbClr val="FFFFFF"/>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0" name="TextBox 17439"/>
          <p:cNvSpPr txBox="1"/>
          <p:nvPr/>
        </p:nvSpPr>
        <p:spPr>
          <a:xfrm>
            <a:off x="6249924" y="4974336"/>
            <a:ext cx="2585465" cy="457200"/>
          </a:xfrm>
          <a:prstGeom prst="rect">
            <a:avLst/>
          </a:prstGeom>
          <a:noFill/>
        </p:spPr>
        <p:txBody>
          <a:bodyPr wrap="square" lIns="36576" rIns="36576" tIns="18288" bIns="18288" anchor="t"/>
          <a:lstStyle/>
          <a:p>
            <a:pPr algn="l">
              <a:spcAft>
                <a:spcPts val="300"/>
              </a:spcAft>
              <a:buNone/>
            </a:pPr>
            <a:r>
              <a:rPr sz="2200" b="1" i="0" u="none">
                <a:solidFill>
                  <a:srgbClr val="C62828"/>
                </a:solidFill>
                <a:latin typeface="Arial"/>
              </a:rPr>
              <a:t>₹64 Cr</a:t>
            </a:r>
          </a:p>
        </p:txBody>
      </p:sp>
      <p:sp>
        <p:nvSpPr>
          <p:cNvPr id="17441" name="TextBox 17440"/>
          <p:cNvSpPr txBox="1"/>
          <p:nvPr/>
        </p:nvSpPr>
        <p:spPr>
          <a:xfrm>
            <a:off x="6249924" y="5440680"/>
            <a:ext cx="2585465" cy="777240"/>
          </a:xfrm>
          <a:prstGeom prst="rect">
            <a:avLst/>
          </a:prstGeom>
          <a:noFill/>
        </p:spPr>
        <p:txBody>
          <a:bodyPr wrap="square" lIns="36576" rIns="36576" tIns="18288" bIns="18288" anchor="t"/>
          <a:lstStyle/>
          <a:p>
            <a:pPr algn="l">
              <a:spcAft>
                <a:spcPts val="300"/>
              </a:spcAft>
              <a:buNone/>
            </a:pPr>
            <a:r>
              <a:rPr sz="930" b="0" i="0" u="none">
                <a:solidFill>
                  <a:srgbClr val="1B2333"/>
                </a:solidFill>
                <a:latin typeface="Arial"/>
              </a:rPr>
              <a:t>swindled from Telugu Akademi's fixed deposits using forged FDRs and letters (Moneylife, 2021)</a:t>
            </a:r>
          </a:p>
        </p:txBody>
      </p:sp>
      <p:sp>
        <p:nvSpPr>
          <p:cNvPr id="17442" name="Rounded Rectangle 17441"/>
          <p:cNvSpPr/>
          <p:nvPr/>
        </p:nvSpPr>
        <p:spPr>
          <a:xfrm>
            <a:off x="9054846" y="4956048"/>
            <a:ext cx="2768346" cy="1261872"/>
          </a:xfrm>
          <a:prstGeom prst="roundRect">
            <a:avLst>
              <a:gd name="adj" fmla="val 6000"/>
            </a:avLst>
          </a:prstGeom>
          <a:solidFill>
            <a:srgbClr val="FFFFFF"/>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3" name="TextBox 17442"/>
          <p:cNvSpPr txBox="1"/>
          <p:nvPr/>
        </p:nvSpPr>
        <p:spPr>
          <a:xfrm>
            <a:off x="9146286" y="4974336"/>
            <a:ext cx="2585465" cy="457200"/>
          </a:xfrm>
          <a:prstGeom prst="rect">
            <a:avLst/>
          </a:prstGeom>
          <a:noFill/>
        </p:spPr>
        <p:txBody>
          <a:bodyPr wrap="square" lIns="36576" rIns="36576" tIns="18288" bIns="18288" anchor="t"/>
          <a:lstStyle/>
          <a:p>
            <a:pPr algn="l">
              <a:spcAft>
                <a:spcPts val="300"/>
              </a:spcAft>
              <a:buNone/>
            </a:pPr>
            <a:r>
              <a:rPr sz="1900" b="1" i="0" u="none">
                <a:solidFill>
                  <a:srgbClr val="1F3864"/>
                </a:solidFill>
                <a:latin typeface="Arial"/>
              </a:rPr>
              <a:t>IFN 760 COV</a:t>
            </a:r>
          </a:p>
        </p:txBody>
      </p:sp>
      <p:sp>
        <p:nvSpPr>
          <p:cNvPr id="17444" name="TextBox 17443"/>
          <p:cNvSpPr txBox="1"/>
          <p:nvPr/>
        </p:nvSpPr>
        <p:spPr>
          <a:xfrm>
            <a:off x="9146286" y="5440680"/>
            <a:ext cx="2585465" cy="777240"/>
          </a:xfrm>
          <a:prstGeom prst="rect">
            <a:avLst/>
          </a:prstGeom>
          <a:noFill/>
        </p:spPr>
        <p:txBody>
          <a:bodyPr wrap="square" lIns="36576" rIns="36576" tIns="18288" bIns="18288" anchor="t"/>
          <a:lstStyle/>
          <a:p>
            <a:pPr algn="l">
              <a:spcAft>
                <a:spcPts val="300"/>
              </a:spcAft>
              <a:buNone/>
            </a:pPr>
            <a:r>
              <a:rPr sz="930" b="0" i="0" u="none">
                <a:solidFill>
                  <a:srgbClr val="1B2333"/>
                </a:solidFill>
                <a:latin typeface="Arial"/>
              </a:rPr>
              <a:t>Bank guarantees travel bank-to-bank on SFMS, the only valid mode (PNB). NidhiSetu gives FDRs a bank-side check</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200"/>
              <a:t>[Team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15568"/>
            <a:ext cx="11430000" cy="274320"/>
          </a:xfrm>
          <a:prstGeom prst="rect">
            <a:avLst/>
          </a:prstGeom>
          <a:noFill/>
        </p:spPr>
        <p:txBody>
          <a:bodyPr wrap="square" lIns="36576" rIns="36576" tIns="18288" bIns="18288" anchor="t"/>
          <a:lstStyle/>
          <a:p>
            <a:pPr algn="l">
              <a:spcAft>
                <a:spcPts val="300"/>
              </a:spcAft>
              <a:buNone/>
            </a:pPr>
            <a:r>
              <a:rPr sz="1250" b="1" i="0" u="none">
                <a:solidFill>
                  <a:srgbClr val="0070C0"/>
                </a:solidFill>
                <a:latin typeface="Arial"/>
              </a:rPr>
              <a:t>Details / Links of the reference and research work</a:t>
            </a:r>
          </a:p>
        </p:txBody>
      </p:sp>
      <p:sp>
        <p:nvSpPr>
          <p:cNvPr id="17411" name="TextBox 17410"/>
          <p:cNvSpPr txBox="1"/>
          <p:nvPr/>
        </p:nvSpPr>
        <p:spPr>
          <a:xfrm>
            <a:off x="365760" y="1417320"/>
            <a:ext cx="6035040" cy="274320"/>
          </a:xfrm>
          <a:prstGeom prst="rect">
            <a:avLst/>
          </a:prstGeom>
          <a:noFill/>
        </p:spPr>
        <p:txBody>
          <a:bodyPr wrap="square" lIns="36576" rIns="36576" tIns="18288" bIns="18288" anchor="t"/>
          <a:lstStyle/>
          <a:p>
            <a:pPr algn="l">
              <a:spcAft>
                <a:spcPts val="300"/>
              </a:spcAft>
              <a:buNone/>
            </a:pPr>
            <a:r>
              <a:rPr sz="1150" b="1" i="0" u="none">
                <a:solidFill>
                  <a:srgbClr val="1F3864"/>
                </a:solidFill>
                <a:latin typeface="Arial"/>
              </a:rPr>
              <a:t>How NidhiSetu compares with what exists today</a:t>
            </a:r>
          </a:p>
        </p:txBody>
      </p:sp>
      <p:graphicFrame>
        <p:nvGraphicFramePr>
          <p:cNvPr id="17412" name="Table 17411"/>
          <p:cNvGraphicFramePr>
            <a:graphicFrameLocks noGrp="1"/>
          </p:cNvGraphicFramePr>
          <p:nvPr/>
        </p:nvGraphicFramePr>
        <p:xfrm>
          <a:off x="365760" y="1737360"/>
          <a:ext cx="6035040" cy="2560320"/>
        </p:xfrm>
        <a:graphic>
          <a:graphicData uri="http://schemas.openxmlformats.org/drawingml/2006/table">
            <a:tbl>
              <a:tblPr firstRow="0" bandRow="0"/>
              <a:tblGrid>
                <a:gridCol w="1691640"/>
                <a:gridCol w="868680"/>
                <a:gridCol w="868680"/>
                <a:gridCol w="731520"/>
                <a:gridCol w="960120"/>
                <a:gridCol w="914400"/>
              </a:tblGrid>
              <a:tr h="365760">
                <a:tc>
                  <a:txBody>
                    <a:bodyPr wrap="square"/>
                    <a:lstStyle/>
                    <a:p>
                      <a:r>
                        <a:rPr sz="900" b="1">
                          <a:solidFill>
                            <a:srgbClr val="FFFFFF"/>
                          </a:solidFill>
                          <a:latin typeface="Arial"/>
                        </a:rPr>
                        <a:t/>
                      </a:r>
                    </a:p>
                  </a:txBody>
                  <a:tcPr marL="54864" marR="54864" marT="27432" marB="27432" anchor="ctr">
                    <a:solidFill>
                      <a:srgbClr val="1F3864"/>
                    </a:solidFill>
                  </a:tcPr>
                </a:tc>
                <a:tc>
                  <a:txBody>
                    <a:bodyPr wrap="square"/>
                    <a:lstStyle/>
                    <a:p>
                      <a:r>
                        <a:rPr sz="900" b="1">
                          <a:solidFill>
                            <a:srgbClr val="FFFFFF"/>
                          </a:solidFill>
                          <a:latin typeface="Arial"/>
                        </a:rPr>
                        <a:t>Paper file + letters</a:t>
                      </a:r>
                    </a:p>
                  </a:txBody>
                  <a:tcPr marL="54864" marR="54864" marT="27432" marB="27432" anchor="ctr">
                    <a:solidFill>
                      <a:srgbClr val="1F3864"/>
                    </a:solidFill>
                  </a:tcPr>
                </a:tc>
                <a:tc>
                  <a:txBody>
                    <a:bodyPr wrap="square"/>
                    <a:lstStyle/>
                    <a:p>
                      <a:r>
                        <a:rPr sz="900" b="1">
                          <a:solidFill>
                            <a:srgbClr val="FFFFFF"/>
                          </a:solidFill>
                          <a:latin typeface="Arial"/>
                        </a:rPr>
                        <a:t>Spreadsheet tracker</a:t>
                      </a:r>
                    </a:p>
                  </a:txBody>
                  <a:tcPr marL="54864" marR="54864" marT="27432" marB="27432" anchor="ctr">
                    <a:solidFill>
                      <a:srgbClr val="1F3864"/>
                    </a:solidFill>
                  </a:tcPr>
                </a:tc>
                <a:tc>
                  <a:txBody>
                    <a:bodyPr wrap="square"/>
                    <a:lstStyle/>
                    <a:p>
                      <a:r>
                        <a:rPr sz="900" b="1">
                          <a:solidFill>
                            <a:srgbClr val="FFFFFF"/>
                          </a:solidFill>
                          <a:latin typeface="Arial"/>
                        </a:rPr>
                        <a:t>NeSL e-BG</a:t>
                      </a:r>
                    </a:p>
                  </a:txBody>
                  <a:tcPr marL="54864" marR="54864" marT="27432" marB="27432" anchor="ctr">
                    <a:solidFill>
                      <a:srgbClr val="1F3864"/>
                    </a:solidFill>
                  </a:tcPr>
                </a:tc>
                <a:tc>
                  <a:txBody>
                    <a:bodyPr wrap="square"/>
                    <a:lstStyle/>
                    <a:p>
                      <a:r>
                        <a:rPr sz="900" b="1">
                          <a:solidFill>
                            <a:srgbClr val="FFFFFF"/>
                          </a:solidFill>
                          <a:latin typeface="Arial"/>
                        </a:rPr>
                        <a:t>Account Aggregator</a:t>
                      </a:r>
                    </a:p>
                  </a:txBody>
                  <a:tcPr marL="54864" marR="54864" marT="27432" marB="27432" anchor="ctr">
                    <a:solidFill>
                      <a:srgbClr val="1F3864"/>
                    </a:solidFill>
                  </a:tcPr>
                </a:tc>
                <a:tc>
                  <a:txBody>
                    <a:bodyPr wrap="square"/>
                    <a:lstStyle/>
                    <a:p>
                      <a:r>
                        <a:rPr sz="900" b="1">
                          <a:solidFill>
                            <a:srgbClr val="FFFFFF"/>
                          </a:solidFill>
                          <a:latin typeface="Arial"/>
                        </a:rPr>
                        <a:t>NidhiSetu</a:t>
                      </a:r>
                    </a:p>
                  </a:txBody>
                  <a:tcPr marL="54864" marR="54864" marT="27432" marB="27432" anchor="ctr">
                    <a:solidFill>
                      <a:srgbClr val="1F3864"/>
                    </a:solidFill>
                  </a:tcPr>
                </a:tc>
              </a:tr>
              <a:tr h="365760">
                <a:tc>
                  <a:txBody>
                    <a:bodyPr wrap="square"/>
                    <a:lstStyle/>
                    <a:p>
                      <a:r>
                        <a:rPr sz="900" b="1">
                          <a:solidFill>
                            <a:srgbClr val="1B2333"/>
                          </a:solidFill>
                          <a:latin typeface="Arial"/>
                        </a:rPr>
                        <a:t>Bank confirms the deposit</a:t>
                      </a:r>
                    </a:p>
                  </a:txBody>
                  <a:tcPr marL="54864" marR="54864" marT="27432" marB="27432" anchor="ctr">
                    <a:solidFill>
                      <a:srgbClr val="FFFFFF"/>
                    </a:solidFill>
                  </a:tcPr>
                </a:tc>
                <a:tc>
                  <a:txBody>
                    <a:bodyPr wrap="square"/>
                    <a:lstStyle/>
                    <a:p>
                      <a:r>
                        <a:rPr sz="900" b="1">
                          <a:solidFill>
                            <a:srgbClr val="A85F00"/>
                          </a:solidFill>
                          <a:latin typeface="Arial"/>
                        </a:rPr>
                        <a:t>Letters</a:t>
                      </a:r>
                    </a:p>
                  </a:txBody>
                  <a:tcPr marL="54864" marR="54864" marT="27432" marB="27432" anchor="ctr">
                    <a:solidFill>
                      <a:srgbClr val="FFFFFF"/>
                    </a:solidFill>
                  </a:tcPr>
                </a:tc>
                <a:tc>
                  <a:txBody>
                    <a:bodyPr wrap="square"/>
                    <a:lstStyle/>
                    <a:p>
                      <a:r>
                        <a:rPr sz="900" b="1">
                          <a:solidFill>
                            <a:srgbClr val="C62828"/>
                          </a:solidFill>
                          <a:latin typeface="Arial"/>
                        </a:rPr>
                        <a:t>No</a:t>
                      </a:r>
                    </a:p>
                  </a:txBody>
                  <a:tcPr marL="54864" marR="54864" marT="27432" marB="27432" anchor="ctr">
                    <a:solidFill>
                      <a:srgbClr val="FFFFFF"/>
                    </a:solidFill>
                  </a:tcPr>
                </a:tc>
                <a:tc>
                  <a:txBody>
                    <a:bodyPr wrap="square"/>
                    <a:lstStyle/>
                    <a:p>
                      <a:r>
                        <a:rPr sz="900" b="1">
                          <a:solidFill>
                            <a:srgbClr val="A85F00"/>
                          </a:solidFill>
                          <a:latin typeface="Arial"/>
                        </a:rPr>
                        <a:t>BGs only</a:t>
                      </a:r>
                    </a:p>
                  </a:txBody>
                  <a:tcPr marL="54864" marR="54864" marT="27432" marB="27432" anchor="ctr">
                    <a:solidFill>
                      <a:srgbClr val="FFFFFF"/>
                    </a:solidFill>
                  </a:tcPr>
                </a:tc>
                <a:tc>
                  <a:txBody>
                    <a:bodyPr wrap="square"/>
                    <a:lstStyle/>
                    <a:p>
                      <a:r>
                        <a:rPr sz="900" b="1">
                          <a:solidFill>
                            <a:srgbClr val="A85F00"/>
                          </a:solidFill>
                          <a:latin typeface="Arial"/>
                        </a:rPr>
                        <a:t>With consent</a:t>
                      </a:r>
                    </a:p>
                  </a:txBody>
                  <a:tcPr marL="54864" marR="54864" marT="27432" marB="27432" anchor="ctr">
                    <a:solidFill>
                      <a:srgbClr val="FFFFFF"/>
                    </a:solidFill>
                  </a:tcPr>
                </a:tc>
                <a:tc>
                  <a:txBody>
                    <a:bodyPr wrap="square"/>
                    <a:lstStyle/>
                    <a:p>
                      <a:r>
                        <a:rPr sz="900" b="1">
                          <a:solidFill>
                            <a:srgbClr val="1A7F4B"/>
                          </a:solidFill>
                          <a:latin typeface="Arial"/>
                        </a:rPr>
                        <a:t>Yes</a:t>
                      </a:r>
                    </a:p>
                  </a:txBody>
                  <a:tcPr marL="54864" marR="54864" marT="27432" marB="27432" anchor="ctr">
                    <a:solidFill>
                      <a:srgbClr val="FFFFFF"/>
                    </a:solidFill>
                  </a:tcPr>
                </a:tc>
              </a:tr>
              <a:tr h="365760">
                <a:tc>
                  <a:txBody>
                    <a:bodyPr wrap="square"/>
                    <a:lstStyle/>
                    <a:p>
                      <a:r>
                        <a:rPr sz="900" b="1">
                          <a:solidFill>
                            <a:srgbClr val="1B2333"/>
                          </a:solidFill>
                          <a:latin typeface="Arial"/>
                        </a:rPr>
                        <a:t>Covers FDRs held as security</a:t>
                      </a:r>
                    </a:p>
                  </a:txBody>
                  <a:tcPr marL="54864" marR="54864" marT="27432" marB="27432" anchor="ctr">
                    <a:solidFill>
                      <a:srgbClr val="F4F7FB"/>
                    </a:solidFill>
                  </a:tcPr>
                </a:tc>
                <a:tc>
                  <a:txBody>
                    <a:bodyPr wrap="square"/>
                    <a:lstStyle/>
                    <a:p>
                      <a:r>
                        <a:rPr sz="900" b="1">
                          <a:solidFill>
                            <a:srgbClr val="1A7F4B"/>
                          </a:solidFill>
                          <a:latin typeface="Arial"/>
                        </a:rPr>
                        <a:t>Yes</a:t>
                      </a:r>
                    </a:p>
                  </a:txBody>
                  <a:tcPr marL="54864" marR="54864" marT="27432" marB="27432" anchor="ctr">
                    <a:solidFill>
                      <a:srgbClr val="F4F7FB"/>
                    </a:solidFill>
                  </a:tcPr>
                </a:tc>
                <a:tc>
                  <a:txBody>
                    <a:bodyPr wrap="square"/>
                    <a:lstStyle/>
                    <a:p>
                      <a:r>
                        <a:rPr sz="900" b="1">
                          <a:solidFill>
                            <a:srgbClr val="1A7F4B"/>
                          </a:solidFill>
                          <a:latin typeface="Arial"/>
                        </a:rPr>
                        <a:t>Yes</a:t>
                      </a:r>
                    </a:p>
                  </a:txBody>
                  <a:tcPr marL="54864" marR="54864" marT="27432" marB="27432" anchor="ctr">
                    <a:solidFill>
                      <a:srgbClr val="F4F7FB"/>
                    </a:solidFill>
                  </a:tcPr>
                </a:tc>
                <a:tc>
                  <a:txBody>
                    <a:bodyPr wrap="square"/>
                    <a:lstStyle/>
                    <a:p>
                      <a:r>
                        <a:rPr sz="900" b="1">
                          <a:solidFill>
                            <a:srgbClr val="C62828"/>
                          </a:solidFill>
                          <a:latin typeface="Arial"/>
                        </a:rPr>
                        <a:t>No</a:t>
                      </a:r>
                    </a:p>
                  </a:txBody>
                  <a:tcPr marL="54864" marR="54864" marT="27432" marB="27432" anchor="ctr">
                    <a:solidFill>
                      <a:srgbClr val="F4F7FB"/>
                    </a:solidFill>
                  </a:tcPr>
                </a:tc>
                <a:tc>
                  <a:txBody>
                    <a:bodyPr wrap="square"/>
                    <a:lstStyle/>
                    <a:p>
                      <a:r>
                        <a:rPr sz="900" b="1">
                          <a:solidFill>
                            <a:srgbClr val="A85F00"/>
                          </a:solidFill>
                          <a:latin typeface="Arial"/>
                        </a:rPr>
                        <a:t>Data only</a:t>
                      </a:r>
                    </a:p>
                  </a:txBody>
                  <a:tcPr marL="54864" marR="54864" marT="27432" marB="27432" anchor="ctr">
                    <a:solidFill>
                      <a:srgbClr val="F4F7FB"/>
                    </a:solidFill>
                  </a:tcPr>
                </a:tc>
                <a:tc>
                  <a:txBody>
                    <a:bodyPr wrap="square"/>
                    <a:lstStyle/>
                    <a:p>
                      <a:r>
                        <a:rPr sz="900" b="1">
                          <a:solidFill>
                            <a:srgbClr val="1A7F4B"/>
                          </a:solidFill>
                          <a:latin typeface="Arial"/>
                        </a:rPr>
                        <a:t>Yes</a:t>
                      </a:r>
                    </a:p>
                  </a:txBody>
                  <a:tcPr marL="54864" marR="54864" marT="27432" marB="27432" anchor="ctr">
                    <a:solidFill>
                      <a:srgbClr val="F4F7FB"/>
                    </a:solidFill>
                  </a:tcPr>
                </a:tc>
              </a:tr>
              <a:tr h="365760">
                <a:tc>
                  <a:txBody>
                    <a:bodyPr wrap="square"/>
                    <a:lstStyle/>
                    <a:p>
                      <a:r>
                        <a:rPr sz="900" b="1">
                          <a:solidFill>
                            <a:srgbClr val="1B2333"/>
                          </a:solidFill>
                          <a:latin typeface="Arial"/>
                        </a:rPr>
                        <a:t>Reminders before maturity</a:t>
                      </a:r>
                    </a:p>
                  </a:txBody>
                  <a:tcPr marL="54864" marR="54864" marT="27432" marB="27432" anchor="ctr">
                    <a:solidFill>
                      <a:srgbClr val="FFFFFF"/>
                    </a:solidFill>
                  </a:tcPr>
                </a:tc>
                <a:tc>
                  <a:txBody>
                    <a:bodyPr wrap="square"/>
                    <a:lstStyle/>
                    <a:p>
                      <a:r>
                        <a:rPr sz="900" b="1">
                          <a:solidFill>
                            <a:srgbClr val="C62828"/>
                          </a:solidFill>
                          <a:latin typeface="Arial"/>
                        </a:rPr>
                        <a:t>No</a:t>
                      </a:r>
                    </a:p>
                  </a:txBody>
                  <a:tcPr marL="54864" marR="54864" marT="27432" marB="27432" anchor="ctr">
                    <a:solidFill>
                      <a:srgbClr val="FFFFFF"/>
                    </a:solidFill>
                  </a:tcPr>
                </a:tc>
                <a:tc>
                  <a:txBody>
                    <a:bodyPr wrap="square"/>
                    <a:lstStyle/>
                    <a:p>
                      <a:r>
                        <a:rPr sz="900" b="1">
                          <a:solidFill>
                            <a:srgbClr val="A85F00"/>
                          </a:solidFill>
                          <a:latin typeface="Arial"/>
                        </a:rPr>
                        <a:t>Manual</a:t>
                      </a:r>
                    </a:p>
                  </a:txBody>
                  <a:tcPr marL="54864" marR="54864" marT="27432" marB="27432" anchor="ctr">
                    <a:solidFill>
                      <a:srgbClr val="FFFFFF"/>
                    </a:solidFill>
                  </a:tcPr>
                </a:tc>
                <a:tc>
                  <a:txBody>
                    <a:bodyPr wrap="square"/>
                    <a:lstStyle/>
                    <a:p>
                      <a:r>
                        <a:rPr sz="900" b="1">
                          <a:solidFill>
                            <a:srgbClr val="5B6476"/>
                          </a:solidFill>
                          <a:latin typeface="Arial"/>
                        </a:rPr>
                        <a:t>n/a</a:t>
                      </a:r>
                    </a:p>
                  </a:txBody>
                  <a:tcPr marL="54864" marR="54864" marT="27432" marB="27432" anchor="ctr">
                    <a:solidFill>
                      <a:srgbClr val="FFFFFF"/>
                    </a:solidFill>
                  </a:tcPr>
                </a:tc>
                <a:tc>
                  <a:txBody>
                    <a:bodyPr wrap="square"/>
                    <a:lstStyle/>
                    <a:p>
                      <a:r>
                        <a:rPr sz="900" b="1">
                          <a:solidFill>
                            <a:srgbClr val="C62828"/>
                          </a:solidFill>
                          <a:latin typeface="Arial"/>
                        </a:rPr>
                        <a:t>No</a:t>
                      </a:r>
                    </a:p>
                  </a:txBody>
                  <a:tcPr marL="54864" marR="54864" marT="27432" marB="27432" anchor="ctr">
                    <a:solidFill>
                      <a:srgbClr val="FFFFFF"/>
                    </a:solidFill>
                  </a:tcPr>
                </a:tc>
                <a:tc>
                  <a:txBody>
                    <a:bodyPr wrap="square"/>
                    <a:lstStyle/>
                    <a:p>
                      <a:r>
                        <a:rPr sz="900" b="1">
                          <a:solidFill>
                            <a:srgbClr val="1A7F4B"/>
                          </a:solidFill>
                          <a:latin typeface="Arial"/>
                        </a:rPr>
                        <a:t>Yes</a:t>
                      </a:r>
                    </a:p>
                  </a:txBody>
                  <a:tcPr marL="54864" marR="54864" marT="27432" marB="27432" anchor="ctr">
                    <a:solidFill>
                      <a:srgbClr val="FFFFFF"/>
                    </a:solidFill>
                  </a:tcPr>
                </a:tc>
              </a:tr>
              <a:tr h="365760">
                <a:tc>
                  <a:txBody>
                    <a:bodyPr wrap="square"/>
                    <a:lstStyle/>
                    <a:p>
                      <a:r>
                        <a:rPr sz="900" b="1">
                          <a:solidFill>
                            <a:srgbClr val="1B2333"/>
                          </a:solidFill>
                          <a:latin typeface="Arial"/>
                        </a:rPr>
                        <a:t>Catches an early closure</a:t>
                      </a:r>
                    </a:p>
                  </a:txBody>
                  <a:tcPr marL="54864" marR="54864" marT="27432" marB="27432" anchor="ctr">
                    <a:solidFill>
                      <a:srgbClr val="F4F7FB"/>
                    </a:solidFill>
                  </a:tcPr>
                </a:tc>
                <a:tc>
                  <a:txBody>
                    <a:bodyPr wrap="square"/>
                    <a:lstStyle/>
                    <a:p>
                      <a:r>
                        <a:rPr sz="900" b="1">
                          <a:solidFill>
                            <a:srgbClr val="C62828"/>
                          </a:solidFill>
                          <a:latin typeface="Arial"/>
                        </a:rPr>
                        <a:t>At maturity</a:t>
                      </a:r>
                    </a:p>
                  </a:txBody>
                  <a:tcPr marL="54864" marR="54864" marT="27432" marB="27432" anchor="ctr">
                    <a:solidFill>
                      <a:srgbClr val="F4F7FB"/>
                    </a:solidFill>
                  </a:tcPr>
                </a:tc>
                <a:tc>
                  <a:txBody>
                    <a:bodyPr wrap="square"/>
                    <a:lstStyle/>
                    <a:p>
                      <a:r>
                        <a:rPr sz="900" b="1">
                          <a:solidFill>
                            <a:srgbClr val="C62828"/>
                          </a:solidFill>
                          <a:latin typeface="Arial"/>
                        </a:rPr>
                        <a:t>No</a:t>
                      </a:r>
                    </a:p>
                  </a:txBody>
                  <a:tcPr marL="54864" marR="54864" marT="27432" marB="27432" anchor="ctr">
                    <a:solidFill>
                      <a:srgbClr val="F4F7FB"/>
                    </a:solidFill>
                  </a:tcPr>
                </a:tc>
                <a:tc>
                  <a:txBody>
                    <a:bodyPr wrap="square"/>
                    <a:lstStyle/>
                    <a:p>
                      <a:r>
                        <a:rPr sz="900" b="1">
                          <a:solidFill>
                            <a:srgbClr val="5B6476"/>
                          </a:solidFill>
                          <a:latin typeface="Arial"/>
                        </a:rPr>
                        <a:t>n/a</a:t>
                      </a:r>
                    </a:p>
                  </a:txBody>
                  <a:tcPr marL="54864" marR="54864" marT="27432" marB="27432" anchor="ctr">
                    <a:solidFill>
                      <a:srgbClr val="F4F7FB"/>
                    </a:solidFill>
                  </a:tcPr>
                </a:tc>
                <a:tc>
                  <a:txBody>
                    <a:bodyPr wrap="square"/>
                    <a:lstStyle/>
                    <a:p>
                      <a:r>
                        <a:rPr sz="900" b="1">
                          <a:solidFill>
                            <a:srgbClr val="A85F00"/>
                          </a:solidFill>
                          <a:latin typeface="Arial"/>
                        </a:rPr>
                        <a:t>If re-fetched</a:t>
                      </a:r>
                    </a:p>
                  </a:txBody>
                  <a:tcPr marL="54864" marR="54864" marT="27432" marB="27432" anchor="ctr">
                    <a:solidFill>
                      <a:srgbClr val="F4F7FB"/>
                    </a:solidFill>
                  </a:tcPr>
                </a:tc>
                <a:tc>
                  <a:txBody>
                    <a:bodyPr wrap="square"/>
                    <a:lstStyle/>
                    <a:p>
                      <a:r>
                        <a:rPr sz="900" b="1">
                          <a:solidFill>
                            <a:srgbClr val="1A7F4B"/>
                          </a:solidFill>
                          <a:latin typeface="Arial"/>
                        </a:rPr>
                        <a:t>Every 90 d</a:t>
                      </a:r>
                    </a:p>
                  </a:txBody>
                  <a:tcPr marL="54864" marR="54864" marT="27432" marB="27432" anchor="ctr">
                    <a:solidFill>
                      <a:srgbClr val="F4F7FB"/>
                    </a:solidFill>
                  </a:tcPr>
                </a:tc>
              </a:tr>
              <a:tr h="365760">
                <a:tc>
                  <a:txBody>
                    <a:bodyPr wrap="square"/>
                    <a:lstStyle/>
                    <a:p>
                      <a:r>
                        <a:rPr sz="900" b="1">
                          <a:solidFill>
                            <a:srgbClr val="1B2333"/>
                          </a:solidFill>
                          <a:latin typeface="Arial"/>
                        </a:rPr>
                        <a:t>Two-official release, audit trail</a:t>
                      </a:r>
                    </a:p>
                  </a:txBody>
                  <a:tcPr marL="54864" marR="54864" marT="27432" marB="27432" anchor="ctr">
                    <a:solidFill>
                      <a:srgbClr val="FFFFFF"/>
                    </a:solidFill>
                  </a:tcPr>
                </a:tc>
                <a:tc>
                  <a:txBody>
                    <a:bodyPr wrap="square"/>
                    <a:lstStyle/>
                    <a:p>
                      <a:r>
                        <a:rPr sz="900" b="1">
                          <a:solidFill>
                            <a:srgbClr val="A85F00"/>
                          </a:solidFill>
                          <a:latin typeface="Arial"/>
                        </a:rPr>
                        <a:t>Partly</a:t>
                      </a:r>
                    </a:p>
                  </a:txBody>
                  <a:tcPr marL="54864" marR="54864" marT="27432" marB="27432" anchor="ctr">
                    <a:solidFill>
                      <a:srgbClr val="FFFFFF"/>
                    </a:solidFill>
                  </a:tcPr>
                </a:tc>
                <a:tc>
                  <a:txBody>
                    <a:bodyPr wrap="square"/>
                    <a:lstStyle/>
                    <a:p>
                      <a:r>
                        <a:rPr sz="900" b="1">
                          <a:solidFill>
                            <a:srgbClr val="C62828"/>
                          </a:solidFill>
                          <a:latin typeface="Arial"/>
                        </a:rPr>
                        <a:t>No</a:t>
                      </a:r>
                    </a:p>
                  </a:txBody>
                  <a:tcPr marL="54864" marR="54864" marT="27432" marB="27432" anchor="ctr">
                    <a:solidFill>
                      <a:srgbClr val="FFFFFF"/>
                    </a:solidFill>
                  </a:tcPr>
                </a:tc>
                <a:tc>
                  <a:txBody>
                    <a:bodyPr wrap="square"/>
                    <a:lstStyle/>
                    <a:p>
                      <a:r>
                        <a:rPr sz="900" b="1">
                          <a:solidFill>
                            <a:srgbClr val="5B6476"/>
                          </a:solidFill>
                          <a:latin typeface="Arial"/>
                        </a:rPr>
                        <a:t>n/a</a:t>
                      </a:r>
                    </a:p>
                  </a:txBody>
                  <a:tcPr marL="54864" marR="54864" marT="27432" marB="27432" anchor="ctr">
                    <a:solidFill>
                      <a:srgbClr val="FFFFFF"/>
                    </a:solidFill>
                  </a:tcPr>
                </a:tc>
                <a:tc>
                  <a:txBody>
                    <a:bodyPr wrap="square"/>
                    <a:lstStyle/>
                    <a:p>
                      <a:r>
                        <a:rPr sz="900" b="1">
                          <a:solidFill>
                            <a:srgbClr val="C62828"/>
                          </a:solidFill>
                          <a:latin typeface="Arial"/>
                        </a:rPr>
                        <a:t>No</a:t>
                      </a:r>
                    </a:p>
                  </a:txBody>
                  <a:tcPr marL="54864" marR="54864" marT="27432" marB="27432" anchor="ctr">
                    <a:solidFill>
                      <a:srgbClr val="FFFFFF"/>
                    </a:solidFill>
                  </a:tcPr>
                </a:tc>
                <a:tc>
                  <a:txBody>
                    <a:bodyPr wrap="square"/>
                    <a:lstStyle/>
                    <a:p>
                      <a:r>
                        <a:rPr sz="900" b="1">
                          <a:solidFill>
                            <a:srgbClr val="1A7F4B"/>
                          </a:solidFill>
                          <a:latin typeface="Arial"/>
                        </a:rPr>
                        <a:t>Yes</a:t>
                      </a:r>
                    </a:p>
                  </a:txBody>
                  <a:tcPr marL="54864" marR="54864" marT="27432" marB="27432" anchor="ctr">
                    <a:solidFill>
                      <a:srgbClr val="FFFFFF"/>
                    </a:solidFill>
                  </a:tcPr>
                </a:tc>
              </a:tr>
              <a:tr h="365760">
                <a:tc>
                  <a:txBody>
                    <a:bodyPr wrap="square"/>
                    <a:lstStyle/>
                    <a:p>
                      <a:r>
                        <a:rPr sz="900" b="1">
                          <a:solidFill>
                            <a:srgbClr val="1B2333"/>
                          </a:solidFill>
                          <a:latin typeface="Arial"/>
                        </a:rPr>
                        <a:t>Paper vs bank, side by side</a:t>
                      </a:r>
                    </a:p>
                  </a:txBody>
                  <a:tcPr marL="54864" marR="54864" marT="27432" marB="27432" anchor="ctr">
                    <a:solidFill>
                      <a:srgbClr val="F4F7FB"/>
                    </a:solidFill>
                  </a:tcPr>
                </a:tc>
                <a:tc>
                  <a:txBody>
                    <a:bodyPr wrap="square"/>
                    <a:lstStyle/>
                    <a:p>
                      <a:r>
                        <a:rPr sz="900" b="1">
                          <a:solidFill>
                            <a:srgbClr val="C62828"/>
                          </a:solidFill>
                          <a:latin typeface="Arial"/>
                        </a:rPr>
                        <a:t>No</a:t>
                      </a:r>
                    </a:p>
                  </a:txBody>
                  <a:tcPr marL="54864" marR="54864" marT="27432" marB="27432" anchor="ctr">
                    <a:solidFill>
                      <a:srgbClr val="F4F7FB"/>
                    </a:solidFill>
                  </a:tcPr>
                </a:tc>
                <a:tc>
                  <a:txBody>
                    <a:bodyPr wrap="square"/>
                    <a:lstStyle/>
                    <a:p>
                      <a:r>
                        <a:rPr sz="900" b="1">
                          <a:solidFill>
                            <a:srgbClr val="C62828"/>
                          </a:solidFill>
                          <a:latin typeface="Arial"/>
                        </a:rPr>
                        <a:t>No</a:t>
                      </a:r>
                    </a:p>
                  </a:txBody>
                  <a:tcPr marL="54864" marR="54864" marT="27432" marB="27432" anchor="ctr">
                    <a:solidFill>
                      <a:srgbClr val="F4F7FB"/>
                    </a:solidFill>
                  </a:tcPr>
                </a:tc>
                <a:tc>
                  <a:txBody>
                    <a:bodyPr wrap="square"/>
                    <a:lstStyle/>
                    <a:p>
                      <a:r>
                        <a:rPr sz="900" b="1">
                          <a:solidFill>
                            <a:srgbClr val="5B6476"/>
                          </a:solidFill>
                          <a:latin typeface="Arial"/>
                        </a:rPr>
                        <a:t>n/a</a:t>
                      </a:r>
                    </a:p>
                  </a:txBody>
                  <a:tcPr marL="54864" marR="54864" marT="27432" marB="27432" anchor="ctr">
                    <a:solidFill>
                      <a:srgbClr val="F4F7FB"/>
                    </a:solidFill>
                  </a:tcPr>
                </a:tc>
                <a:tc>
                  <a:txBody>
                    <a:bodyPr wrap="square"/>
                    <a:lstStyle/>
                    <a:p>
                      <a:r>
                        <a:rPr sz="900" b="1">
                          <a:solidFill>
                            <a:srgbClr val="C62828"/>
                          </a:solidFill>
                          <a:latin typeface="Arial"/>
                        </a:rPr>
                        <a:t>No</a:t>
                      </a:r>
                    </a:p>
                  </a:txBody>
                  <a:tcPr marL="54864" marR="54864" marT="27432" marB="27432" anchor="ctr">
                    <a:solidFill>
                      <a:srgbClr val="F4F7FB"/>
                    </a:solidFill>
                  </a:tcPr>
                </a:tc>
                <a:tc>
                  <a:txBody>
                    <a:bodyPr wrap="square"/>
                    <a:lstStyle/>
                    <a:p>
                      <a:r>
                        <a:rPr sz="900" b="1">
                          <a:solidFill>
                            <a:srgbClr val="1A7F4B"/>
                          </a:solidFill>
                          <a:latin typeface="Arial"/>
                        </a:rPr>
                        <a:t>Yes</a:t>
                      </a:r>
                    </a:p>
                  </a:txBody>
                  <a:tcPr marL="54864" marR="54864" marT="27432" marB="27432" anchor="ctr">
                    <a:solidFill>
                      <a:srgbClr val="F4F7FB"/>
                    </a:solidFill>
                  </a:tcPr>
                </a:tc>
              </a:tr>
            </a:tbl>
          </a:graphicData>
        </a:graphic>
      </p:graphicFrame>
      <p:sp>
        <p:nvSpPr>
          <p:cNvPr id="17413" name="TextBox 17412"/>
          <p:cNvSpPr txBox="1"/>
          <p:nvPr/>
        </p:nvSpPr>
        <p:spPr>
          <a:xfrm>
            <a:off x="365760" y="4434840"/>
            <a:ext cx="6035040" cy="1783080"/>
          </a:xfrm>
          <a:prstGeom prst="rect">
            <a:avLst/>
          </a:prstGeom>
          <a:noFill/>
        </p:spPr>
        <p:txBody>
          <a:bodyPr wrap="square" lIns="36576" rIns="36576" tIns="18288" bIns="18288" anchor="t"/>
          <a:lstStyle/>
          <a:p>
            <a:pPr algn="l">
              <a:spcAft>
                <a:spcPts val="300"/>
              </a:spcAft>
              <a:buNone/>
            </a:pPr>
            <a:r>
              <a:rPr sz="1150" b="1" i="0" u="none">
                <a:solidFill>
                  <a:srgbClr val="1F3864"/>
                </a:solidFill>
                <a:latin typeface="Arial"/>
              </a:rPr>
              <a:t>What exists, and what we build on</a:t>
            </a:r>
          </a:p>
          <a:p>
            <a:pPr algn="l" marL="146304" indent="-128016">
              <a:spcAft>
                <a:spcPts val="300"/>
              </a:spcAft>
              <a:buChar char="•"/>
            </a:pPr>
            <a:r>
              <a:rPr sz="980" b="1" i="0" u="none">
                <a:solidFill>
                  <a:srgbClr val="0070C0"/>
                </a:solidFill>
                <a:latin typeface="Arial"/>
              </a:rPr>
              <a:t>NeSL e-BG</a:t>
            </a:r>
            <a:r>
              <a:rPr sz="980" b="0" i="0" u="none">
                <a:solidFill>
                  <a:srgbClr val="1B2333"/>
                </a:solidFill>
                <a:latin typeface="Arial"/>
              </a:rPr>
              <a:t>: banks already issue bank guarantees electronically with instant verification; we bring that idea to FDRs</a:t>
            </a:r>
          </a:p>
          <a:p>
            <a:pPr algn="l" marL="146304" indent="-128016">
              <a:spcAft>
                <a:spcPts val="300"/>
              </a:spcAft>
              <a:buChar char="•"/>
            </a:pPr>
            <a:r>
              <a:rPr sz="980" b="1" i="0" u="none">
                <a:solidFill>
                  <a:srgbClr val="0070C0"/>
                </a:solidFill>
                <a:latin typeface="Arial"/>
              </a:rPr>
              <a:t>Account Aggregator</a:t>
            </a:r>
            <a:r>
              <a:rPr sz="980" b="0" i="0" u="none">
                <a:solidFill>
                  <a:srgbClr val="1B2333"/>
                </a:solidFill>
                <a:latin typeface="Arial"/>
              </a:rPr>
              <a:t>: term deposits are a listed data type; our next bank channel, with the institution's consent</a:t>
            </a:r>
          </a:p>
          <a:p>
            <a:pPr algn="l" marL="146304" indent="-128016">
              <a:spcAft>
                <a:spcPts val="300"/>
              </a:spcAft>
              <a:buChar char="•"/>
            </a:pPr>
            <a:r>
              <a:rPr sz="980" b="1" i="0" u="none">
                <a:solidFill>
                  <a:srgbClr val="0070C0"/>
                </a:solidFill>
                <a:latin typeface="Arial"/>
              </a:rPr>
              <a:t>RBI IFSC lists</a:t>
            </a:r>
            <a:r>
              <a:rPr sz="980" b="0" i="0" u="none">
                <a:solidFill>
                  <a:srgbClr val="1B2333"/>
                </a:solidFill>
                <a:latin typeface="Arial"/>
              </a:rPr>
              <a:t> (open dataset): every branch on a receipt must exist</a:t>
            </a:r>
          </a:p>
          <a:p>
            <a:pPr algn="l" marL="146304" indent="-128016">
              <a:spcAft>
                <a:spcPts val="300"/>
              </a:spcAft>
              <a:buChar char="•"/>
            </a:pPr>
            <a:r>
              <a:rPr sz="980" b="0" i="0" u="none">
                <a:solidFill>
                  <a:srgbClr val="5B6476"/>
                </a:solidFill>
                <a:latin typeface="Arial"/>
              </a:rPr>
              <a:t>Stakeholder input: [add one line from your college's accounts officer or AICTE coordinator]</a:t>
            </a:r>
          </a:p>
        </p:txBody>
      </p:sp>
      <p:sp>
        <p:nvSpPr>
          <p:cNvPr id="17414" name="TextBox 17413"/>
          <p:cNvSpPr txBox="1"/>
          <p:nvPr/>
        </p:nvSpPr>
        <p:spPr>
          <a:xfrm>
            <a:off x="6629400" y="1417320"/>
            <a:ext cx="5193792" cy="274320"/>
          </a:xfrm>
          <a:prstGeom prst="rect">
            <a:avLst/>
          </a:prstGeom>
          <a:noFill/>
        </p:spPr>
        <p:txBody>
          <a:bodyPr wrap="square" lIns="36576" rIns="36576" tIns="18288" bIns="18288" anchor="t"/>
          <a:lstStyle/>
          <a:p>
            <a:pPr algn="l">
              <a:spcAft>
                <a:spcPts val="300"/>
              </a:spcAft>
              <a:buNone/>
            </a:pPr>
            <a:r>
              <a:rPr sz="1150" b="1" i="0" u="none">
                <a:solidFill>
                  <a:srgbClr val="1F3864"/>
                </a:solidFill>
                <a:latin typeface="Arial"/>
              </a:rPr>
              <a:t>Research, standards and sources</a:t>
            </a:r>
          </a:p>
        </p:txBody>
      </p:sp>
      <p:sp>
        <p:nvSpPr>
          <p:cNvPr id="17415" name="TextBox 17414"/>
          <p:cNvSpPr txBox="1"/>
          <p:nvPr/>
        </p:nvSpPr>
        <p:spPr>
          <a:xfrm>
            <a:off x="6629400" y="1700784"/>
            <a:ext cx="5193792" cy="4526280"/>
          </a:xfrm>
          <a:prstGeom prst="rect">
            <a:avLst/>
          </a:prstGeom>
          <a:noFill/>
        </p:spPr>
        <p:txBody>
          <a:bodyPr wrap="square" lIns="36576" rIns="36576" tIns="18288" bIns="18288" anchor="t"/>
          <a:lstStyle/>
          <a:p>
            <a:pPr algn="l">
              <a:spcAft>
                <a:spcPts val="300"/>
              </a:spcAft>
              <a:buNone/>
            </a:pPr>
            <a:r>
              <a:rPr sz="880" b="1" i="0" u="none">
                <a:solidFill>
                  <a:srgbClr val="1F3864"/>
                </a:solidFill>
                <a:latin typeface="Arial"/>
              </a:rPr>
              <a:t>1. </a:t>
            </a:r>
            <a:r>
              <a:rPr sz="880" b="0" i="0" u="none">
                <a:solidFill>
                  <a:srgbClr val="0070C0"/>
                </a:solidFill>
                <a:latin typeface="Arial"/>
                <a:hlinkClick r:id="rId4"/>
              </a:rPr>
              <a:t>PS SIH26265, AICTE Regulation Bureau (sih.gov.in)</a:t>
            </a:r>
          </a:p>
          <a:p>
            <a:pPr algn="l">
              <a:spcAft>
                <a:spcPts val="300"/>
              </a:spcAft>
              <a:buNone/>
            </a:pPr>
            <a:r>
              <a:rPr sz="880" b="1" i="0" u="none">
                <a:solidFill>
                  <a:srgbClr val="1F3864"/>
                </a:solidFill>
                <a:latin typeface="Arial"/>
              </a:rPr>
              <a:t>2. </a:t>
            </a:r>
            <a:r>
              <a:rPr sz="880" b="0" i="0" u="none">
                <a:solidFill>
                  <a:srgbClr val="0070C0"/>
                </a:solidFill>
                <a:latin typeface="Arial"/>
                <a:hlinkClick r:id="rId5"/>
              </a:rPr>
              <a:t>AICTE, Simple steps for making security deposit online</a:t>
            </a:r>
          </a:p>
          <a:p>
            <a:pPr algn="l">
              <a:spcAft>
                <a:spcPts val="300"/>
              </a:spcAft>
              <a:buNone/>
            </a:pPr>
            <a:r>
              <a:rPr sz="880" b="1" i="0" u="none">
                <a:solidFill>
                  <a:srgbClr val="1F3864"/>
                </a:solidFill>
                <a:latin typeface="Arial"/>
              </a:rPr>
              <a:t>3. </a:t>
            </a:r>
            <a:r>
              <a:rPr sz="880" b="0" i="0" u="none">
                <a:solidFill>
                  <a:srgbClr val="0070C0"/>
                </a:solidFill>
                <a:latin typeface="Arial"/>
                <a:hlinkClick r:id="rId6"/>
              </a:rPr>
              <a:t>The Tribune, Chandigarh MC: Rs 116 crore FDR scandal unfolds, 11 Mar 2026</a:t>
            </a:r>
          </a:p>
          <a:p>
            <a:pPr algn="l">
              <a:spcAft>
                <a:spcPts val="300"/>
              </a:spcAft>
              <a:buNone/>
            </a:pPr>
            <a:r>
              <a:rPr sz="880" b="1" i="0" u="none">
                <a:solidFill>
                  <a:srgbClr val="1F3864"/>
                </a:solidFill>
                <a:latin typeface="Arial"/>
              </a:rPr>
              <a:t>4. </a:t>
            </a:r>
            <a:r>
              <a:rPr sz="880" b="0" i="0" u="none">
                <a:solidFill>
                  <a:srgbClr val="0070C0"/>
                </a:solidFill>
                <a:latin typeface="Arial"/>
                <a:hlinkClick r:id="rId7"/>
              </a:rPr>
              <a:t>Moneylife, ₹150 crore FD discrepancy in Panchkula MC account, Mar 2026</a:t>
            </a:r>
          </a:p>
          <a:p>
            <a:pPr algn="l">
              <a:spcAft>
                <a:spcPts val="300"/>
              </a:spcAft>
              <a:buNone/>
            </a:pPr>
            <a:r>
              <a:rPr sz="880" b="1" i="0" u="none">
                <a:solidFill>
                  <a:srgbClr val="1F3864"/>
                </a:solidFill>
                <a:latin typeface="Arial"/>
              </a:rPr>
              <a:t>5. </a:t>
            </a:r>
            <a:r>
              <a:rPr sz="880" b="0" i="0" u="none">
                <a:solidFill>
                  <a:srgbClr val="0070C0"/>
                </a:solidFill>
                <a:latin typeface="Arial"/>
                <a:hlinkClick r:id="rId8"/>
              </a:rPr>
              <a:t>Business Today, CBI arrests ex-bank officials in Haryana FD fraud case, 30 Jun 2026</a:t>
            </a:r>
          </a:p>
          <a:p>
            <a:pPr algn="l">
              <a:spcAft>
                <a:spcPts val="300"/>
              </a:spcAft>
              <a:buNone/>
            </a:pPr>
            <a:r>
              <a:rPr sz="880" b="1" i="0" u="none">
                <a:solidFill>
                  <a:srgbClr val="1F3864"/>
                </a:solidFill>
                <a:latin typeface="Arial"/>
              </a:rPr>
              <a:t>6. </a:t>
            </a:r>
            <a:r>
              <a:rPr sz="880" b="0" i="0" u="none">
                <a:solidFill>
                  <a:srgbClr val="0070C0"/>
                </a:solidFill>
                <a:latin typeface="Arial"/>
                <a:hlinkClick r:id="rId9"/>
              </a:rPr>
              <a:t>Moneylife, ED to probe Rs64 crore Telugu Akademi fixed deposit fraud</a:t>
            </a:r>
          </a:p>
          <a:p>
            <a:pPr algn="l">
              <a:spcAft>
                <a:spcPts val="300"/>
              </a:spcAft>
              <a:buNone/>
            </a:pPr>
            <a:r>
              <a:rPr sz="880" b="1" i="0" u="none">
                <a:solidFill>
                  <a:srgbClr val="1F3864"/>
                </a:solidFill>
                <a:latin typeface="Arial"/>
              </a:rPr>
              <a:t>7. </a:t>
            </a:r>
            <a:r>
              <a:rPr sz="880" b="0" i="0" u="none">
                <a:solidFill>
                  <a:srgbClr val="0070C0"/>
                </a:solidFill>
                <a:latin typeface="Arial"/>
                <a:hlinkClick r:id="rId10"/>
              </a:rPr>
              <a:t>PNB, Bank guarantees transmitted through SFMS IFN 760 / 760 COV</a:t>
            </a:r>
          </a:p>
          <a:p>
            <a:pPr algn="l">
              <a:spcAft>
                <a:spcPts val="300"/>
              </a:spcAft>
              <a:buNone/>
            </a:pPr>
            <a:r>
              <a:rPr sz="880" b="1" i="0" u="none">
                <a:solidFill>
                  <a:srgbClr val="1F3864"/>
                </a:solidFill>
                <a:latin typeface="Arial"/>
              </a:rPr>
              <a:t>8. </a:t>
            </a:r>
            <a:r>
              <a:rPr sz="880" b="0" i="0" u="none">
                <a:solidFill>
                  <a:srgbClr val="0070C0"/>
                </a:solidFill>
                <a:latin typeface="Arial"/>
                <a:hlinkClick r:id="rId11"/>
              </a:rPr>
              <a:t>CSB Bank, Electronic bank guarantee through NeSL</a:t>
            </a:r>
          </a:p>
          <a:p>
            <a:pPr algn="l">
              <a:spcAft>
                <a:spcPts val="300"/>
              </a:spcAft>
              <a:buNone/>
            </a:pPr>
            <a:r>
              <a:rPr sz="880" b="1" i="0" u="none">
                <a:solidFill>
                  <a:srgbClr val="1F3864"/>
                </a:solidFill>
                <a:latin typeface="Arial"/>
              </a:rPr>
              <a:t>9. </a:t>
            </a:r>
            <a:r>
              <a:rPr sz="880" b="0" i="0" u="none">
                <a:solidFill>
                  <a:srgbClr val="0070C0"/>
                </a:solidFill>
                <a:latin typeface="Arial"/>
                <a:hlinkClick r:id="rId12"/>
              </a:rPr>
              <a:t>Sahamati, Account types activated by banks on AAs (term deposits)</a:t>
            </a:r>
          </a:p>
          <a:p>
            <a:pPr algn="l">
              <a:spcAft>
                <a:spcPts val="300"/>
              </a:spcAft>
              <a:buNone/>
            </a:pPr>
            <a:r>
              <a:rPr sz="880" b="1" i="0" u="none">
                <a:solidFill>
                  <a:srgbClr val="1F3864"/>
                </a:solidFill>
                <a:latin typeface="Arial"/>
              </a:rPr>
              <a:t>10. </a:t>
            </a:r>
            <a:r>
              <a:rPr sz="880" b="0" i="0" u="none">
                <a:solidFill>
                  <a:srgbClr val="0070C0"/>
                </a:solidFill>
                <a:latin typeface="Arial"/>
                <a:hlinkClick r:id="rId13"/>
              </a:rPr>
              <a:t>Sahamati, Glossary of AA terms (TD: term / fixed deposit)</a:t>
            </a:r>
          </a:p>
          <a:p>
            <a:pPr algn="l">
              <a:spcAft>
                <a:spcPts val="300"/>
              </a:spcAft>
              <a:buNone/>
            </a:pPr>
            <a:r>
              <a:rPr sz="880" b="1" i="0" u="none">
                <a:solidFill>
                  <a:srgbClr val="1F3864"/>
                </a:solidFill>
                <a:latin typeface="Arial"/>
              </a:rPr>
              <a:t>11. </a:t>
            </a:r>
            <a:r>
              <a:rPr sz="880" b="0" i="0" u="none">
                <a:solidFill>
                  <a:srgbClr val="0070C0"/>
                </a:solidFill>
                <a:latin typeface="Arial"/>
                <a:hlinkClick r:id="rId14"/>
              </a:rPr>
              <a:t>Razorpay IFSC dataset, built from RBI NEFT/RTGS lists</a:t>
            </a:r>
          </a:p>
          <a:p>
            <a:pPr algn="l">
              <a:spcAft>
                <a:spcPts val="300"/>
              </a:spcAft>
              <a:buNone/>
            </a:pPr>
            <a:r>
              <a:rPr sz="880" b="1" i="0" u="none">
                <a:solidFill>
                  <a:srgbClr val="1F3864"/>
                </a:solidFill>
                <a:latin typeface="Arial"/>
              </a:rPr>
              <a:t>12. </a:t>
            </a:r>
            <a:r>
              <a:rPr sz="880" b="0" i="0" u="none">
                <a:solidFill>
                  <a:srgbClr val="0070C0"/>
                </a:solidFill>
                <a:latin typeface="Arial"/>
                <a:hlinkClick r:id="rId15"/>
              </a:rPr>
              <a:t>ETSI EN 319 142 (PAdES): PDF digital signatures</a:t>
            </a:r>
          </a:p>
          <a:p>
            <a:pPr algn="l">
              <a:spcAft>
                <a:spcPts val="300"/>
              </a:spcAft>
              <a:buNone/>
            </a:pPr>
            <a:r>
              <a:rPr sz="880" b="1" i="0" u="none">
                <a:solidFill>
                  <a:srgbClr val="1F3864"/>
                </a:solidFill>
                <a:latin typeface="Arial"/>
              </a:rPr>
              <a:t>13. </a:t>
            </a:r>
            <a:r>
              <a:rPr sz="880" b="0" i="0" u="none">
                <a:solidFill>
                  <a:srgbClr val="0070C0"/>
                </a:solidFill>
                <a:latin typeface="Arial"/>
                <a:hlinkClick r:id="rId16"/>
              </a:rPr>
              <a:t>Du et al., PP-OCR: a practical ultra lightweight OCR system, arXiv:2009.09941</a:t>
            </a:r>
          </a:p>
          <a:p>
            <a:pPr algn="l">
              <a:spcAft>
                <a:spcPts val="300"/>
              </a:spcAft>
              <a:buNone/>
            </a:pPr>
            <a:r>
              <a:rPr sz="880" b="1" i="0" u="none">
                <a:solidFill>
                  <a:srgbClr val="1F3864"/>
                </a:solidFill>
                <a:latin typeface="Arial"/>
              </a:rPr>
              <a:t>14. </a:t>
            </a:r>
            <a:r>
              <a:rPr sz="880" b="0" i="0" u="none">
                <a:solidFill>
                  <a:srgbClr val="0070C0"/>
                </a:solidFill>
                <a:latin typeface="Arial"/>
                <a:hlinkClick r:id="rId17"/>
              </a:rPr>
              <a:t>UX4G 3.0, Government of India design system</a:t>
            </a:r>
          </a:p>
          <a:p>
            <a:pPr algn="l">
              <a:spcAft>
                <a:spcPts val="300"/>
              </a:spcAft>
              <a:buNone/>
            </a:pPr>
            <a:r>
              <a:rPr sz="880" b="1" i="0" u="none">
                <a:solidFill>
                  <a:srgbClr val="1F3864"/>
                </a:solidFill>
                <a:latin typeface="Arial"/>
              </a:rPr>
              <a:t>15. </a:t>
            </a:r>
            <a:r>
              <a:rPr sz="880" b="0" i="0" u="none">
                <a:solidFill>
                  <a:srgbClr val="0070C0"/>
                </a:solidFill>
                <a:latin typeface="Arial"/>
                <a:hlinkClick r:id="rId18"/>
              </a:rPr>
              <a:t>GIGW 3.0: Indian government web guidelines (WCAG 2.1 AA)</a:t>
            </a:r>
          </a:p>
        </p:txBody>
      </p:sp>
      <p:sp>
        <p:nvSpPr>
          <p:cNvPr id="17416" name="Rounded Rectangle 17415"/>
          <p:cNvSpPr/>
          <p:nvPr/>
        </p:nvSpPr>
        <p:spPr>
          <a:xfrm>
            <a:off x="6629400" y="4572000"/>
            <a:ext cx="5193792" cy="1645920"/>
          </a:xfrm>
          <a:prstGeom prst="roundRect">
            <a:avLst>
              <a:gd name="adj" fmla="val 6000"/>
            </a:avLst>
          </a:prstGeom>
          <a:solidFill>
            <a:srgbClr val="F4F7FB"/>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7" name="TextBox 17416"/>
          <p:cNvSpPr txBox="1"/>
          <p:nvPr/>
        </p:nvSpPr>
        <p:spPr>
          <a:xfrm>
            <a:off x="6720840" y="4617720"/>
            <a:ext cx="5010912" cy="1572768"/>
          </a:xfrm>
          <a:prstGeom prst="rect">
            <a:avLst/>
          </a:prstGeom>
          <a:noFill/>
        </p:spPr>
        <p:txBody>
          <a:bodyPr wrap="square" lIns="36576" rIns="36576" tIns="18288" bIns="18288" anchor="t"/>
          <a:lstStyle/>
          <a:p>
            <a:pPr algn="l">
              <a:spcAft>
                <a:spcPts val="300"/>
              </a:spcAft>
              <a:buNone/>
            </a:pPr>
            <a:r>
              <a:rPr sz="1100" b="1" i="0" u="none">
                <a:solidFill>
                  <a:srgbClr val="1F3864"/>
                </a:solidFill>
                <a:latin typeface="Arial"/>
              </a:rPr>
              <a:t>Data and test assets (all free)</a:t>
            </a:r>
          </a:p>
          <a:p>
            <a:pPr algn="l" marL="146304" indent="-128016">
              <a:spcAft>
                <a:spcPts val="300"/>
              </a:spcAft>
              <a:buChar char="•"/>
            </a:pPr>
            <a:r>
              <a:rPr sz="919" b="1" i="0" u="none">
                <a:solidFill>
                  <a:srgbClr val="0070C0"/>
                </a:solidFill>
                <a:latin typeface="Arial"/>
              </a:rPr>
              <a:t>Labelled test set we built</a:t>
            </a:r>
            <a:r>
              <a:rPr sz="919" b="0" i="0" u="none">
                <a:solidFill>
                  <a:srgbClr val="1B2333"/>
                </a:solidFill>
                <a:latin typeface="Arial"/>
              </a:rPr>
              <a:t>: 140 receipts, 8 forgery patterns from the cases above</a:t>
            </a:r>
          </a:p>
          <a:p>
            <a:pPr algn="l" marL="146304" indent="-128016">
              <a:spcAft>
                <a:spcPts val="300"/>
              </a:spcAft>
              <a:buChar char="•"/>
            </a:pPr>
            <a:r>
              <a:rPr sz="919" b="1" i="0" u="none">
                <a:solidFill>
                  <a:srgbClr val="0070C0"/>
                </a:solidFill>
                <a:latin typeface="Arial"/>
              </a:rPr>
              <a:t>Sandbox banks</a:t>
            </a:r>
            <a:r>
              <a:rPr sz="919" b="0" i="0" u="none">
                <a:solidFill>
                  <a:srgbClr val="1B2333"/>
                </a:solidFill>
                <a:latin typeface="Arial"/>
              </a:rPr>
              <a:t>: our own CA for signed e-FDRs, a term-deposit API, branch links</a:t>
            </a:r>
          </a:p>
          <a:p>
            <a:pPr algn="l" marL="146304" indent="-128016">
              <a:spcAft>
                <a:spcPts val="300"/>
              </a:spcAft>
              <a:buChar char="•"/>
            </a:pPr>
            <a:r>
              <a:rPr sz="919" b="1" i="0" u="none">
                <a:solidFill>
                  <a:srgbClr val="0070C0"/>
                </a:solidFill>
                <a:latin typeface="Arial"/>
              </a:rPr>
              <a:t>10,000-deposit simulation</a:t>
            </a:r>
            <a:r>
              <a:rPr sz="919" b="0" i="0" u="none">
                <a:solidFill>
                  <a:srgbClr val="1B2333"/>
                </a:solidFill>
                <a:latin typeface="Arial"/>
              </a:rPr>
              <a:t> of early closures: paper check vs 90-day re-check</a:t>
            </a:r>
          </a:p>
          <a:p>
            <a:pPr algn="l" marL="146304" indent="-128016">
              <a:spcAft>
                <a:spcPts val="300"/>
              </a:spcAft>
              <a:buChar char="•"/>
            </a:pPr>
            <a:r>
              <a:rPr sz="919" b="1" i="0" u="none">
                <a:solidFill>
                  <a:srgbClr val="0070C0"/>
                </a:solidFill>
                <a:latin typeface="Arial"/>
              </a:rPr>
              <a:t>Rules</a:t>
            </a:r>
            <a:r>
              <a:rPr sz="919" b="0" i="0" u="none">
                <a:solidFill>
                  <a:srgbClr val="1B2333"/>
                </a:solidFill>
                <a:latin typeface="Arial"/>
              </a:rPr>
              <a:t>: AICTE security deposit norms, configurable per cycle (PS allows synthetic data)</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